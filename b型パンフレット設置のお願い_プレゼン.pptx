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548640"/>
            <a:ext cx="1188720" cy="1188720"/>
          </a:xfrm>
          <a:prstGeom prst="ellipse">
            <a:avLst/>
          </a:prstGeom>
          <a:solidFill>
            <a:srgbClr val="CCE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15600" y="1463040"/>
            <a:ext cx="685800" cy="685800"/>
          </a:xfrm>
          <a:prstGeom prst="ellipse">
            <a:avLst/>
          </a:prstGeom>
          <a:solidFill>
            <a:srgbClr val="BB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20" y="1828800"/>
            <a:ext cx="411480" cy="411480"/>
          </a:xfrm>
          <a:prstGeom prst="ellipse">
            <a:avLst/>
          </a:prstGeom>
          <a:solidFill>
            <a:srgbClr val="4E9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143000"/>
            <a:ext cx="8046720" cy="1554480"/>
          </a:xfrm>
          <a:prstGeom prst="rect">
            <a:avLst/>
          </a:prstGeom>
          <a:noFill/>
        </p:spPr>
        <p:txBody>
          <a:bodyPr wrap="square" lIns="54864" rIns="54864" tIns="54864" bIns="54864" anchor="t">
            <a:spAutoFit/>
          </a:bodyPr>
          <a:lstStyle/>
          <a:p>
            <a:pPr algn="l">
              <a:spcAft>
                <a:spcPts val="400"/>
              </a:spcAft>
            </a:pPr>
            <a:r>
              <a:rPr sz="3400" b="1">
                <a:solidFill>
                  <a:srgbClr val="204468"/>
                </a:solidFill>
                <a:latin typeface="Yu Gothic"/>
              </a:rPr>
              <a:t>地域のお店と、
働く一歩をつなぐ</a:t>
            </a:r>
          </a:p>
        </p:txBody>
      </p:sp>
      <p:sp>
        <p:nvSpPr>
          <p:cNvPr id="7" name="TextBox 6"/>
          <p:cNvSpPr txBox="1"/>
          <p:nvPr/>
        </p:nvSpPr>
        <p:spPr>
          <a:xfrm>
            <a:off x="822960" y="3063240"/>
            <a:ext cx="7772400" cy="914400"/>
          </a:xfrm>
          <a:prstGeom prst="rect">
            <a:avLst/>
          </a:prstGeom>
          <a:noFill/>
        </p:spPr>
        <p:txBody>
          <a:bodyPr wrap="square" lIns="54864" rIns="54864" tIns="54864" bIns="54864" anchor="t">
            <a:spAutoFit/>
          </a:bodyPr>
          <a:lstStyle/>
          <a:p>
            <a:pPr algn="l">
              <a:spcAft>
                <a:spcPts val="400"/>
              </a:spcAft>
            </a:pPr>
            <a:r>
              <a:rPr sz="2300" b="1">
                <a:solidFill>
                  <a:srgbClr val="4A90C4"/>
                </a:solidFill>
                <a:latin typeface="Yu Gothic"/>
              </a:rPr>
              <a:t>就労継続支援B型事業所
パンフレット設置のお願い</a:t>
            </a:r>
          </a:p>
        </p:txBody>
      </p:sp>
      <p:sp>
        <p:nvSpPr>
          <p:cNvPr id="8" name="TextBox 7"/>
          <p:cNvSpPr txBox="1"/>
          <p:nvPr/>
        </p:nvSpPr>
        <p:spPr>
          <a:xfrm>
            <a:off x="841248" y="4892040"/>
            <a:ext cx="9509760" cy="548640"/>
          </a:xfrm>
          <a:prstGeom prst="rect">
            <a:avLst/>
          </a:prstGeom>
          <a:noFill/>
        </p:spPr>
        <p:txBody>
          <a:bodyPr wrap="square" lIns="54864" rIns="54864" tIns="54864" bIns="54864" anchor="t">
            <a:spAutoFit/>
          </a:bodyPr>
          <a:lstStyle/>
          <a:p>
            <a:pPr algn="l">
              <a:spcAft>
                <a:spcPts val="400"/>
              </a:spcAft>
            </a:pPr>
            <a:r>
              <a:rPr sz="1700" b="0">
                <a:solidFill>
                  <a:srgbClr val="2D3A45"/>
                </a:solidFill>
                <a:latin typeface="Yu Gothic"/>
              </a:rPr>
              <a:t>お店の負担を増やさず、地域に情報を届ける小さな取り組み</a:t>
            </a:r>
          </a:p>
        </p:txBody>
      </p:sp>
      <p:sp>
        <p:nvSpPr>
          <p:cNvPr id="9" name="TextBox 8"/>
          <p:cNvSpPr txBox="1"/>
          <p:nvPr/>
        </p:nvSpPr>
        <p:spPr>
          <a:xfrm>
            <a:off x="841248" y="5989320"/>
            <a:ext cx="9875520" cy="320040"/>
          </a:xfrm>
          <a:prstGeom prst="rect">
            <a:avLst/>
          </a:prstGeom>
          <a:noFill/>
        </p:spPr>
        <p:txBody>
          <a:bodyPr wrap="square" lIns="54864" rIns="54864" tIns="54864" bIns="54864" anchor="t">
            <a:spAutoFit/>
          </a:bodyPr>
          <a:lstStyle/>
          <a:p>
            <a:pPr algn="l">
              <a:spcAft>
                <a:spcPts val="400"/>
              </a:spcAft>
            </a:pPr>
            <a:r>
              <a:rPr sz="1200" b="0">
                <a:solidFill>
                  <a:srgbClr val="647480"/>
                </a:solidFill>
                <a:latin typeface="Yu Gothic"/>
              </a:rPr>
              <a:t>ご相談先：［事業所名］　／　［担当者名・連絡先］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881360" cy="548640"/>
          </a:xfrm>
          <a:prstGeom prst="rect">
            <a:avLst/>
          </a:prstGeom>
          <a:noFill/>
        </p:spPr>
        <p:txBody>
          <a:bodyPr wrap="square" lIns="54864" rIns="54864" tIns="54864" bIns="54864" anchor="t">
            <a:spAutoFit/>
          </a:bodyPr>
          <a:lstStyle/>
          <a:p>
            <a:pPr algn="l">
              <a:spcAft>
                <a:spcPts val="400"/>
              </a:spcAft>
            </a:pPr>
            <a:r>
              <a:rPr sz="2600" b="1">
                <a:solidFill>
                  <a:srgbClr val="204468"/>
                </a:solidFill>
                <a:latin typeface="Yu Gothic"/>
              </a:rPr>
              <a:t>なぜ、パンフレットを置いてほしいのか</a:t>
            </a:r>
          </a:p>
        </p:txBody>
      </p:sp>
      <p:sp>
        <p:nvSpPr>
          <p:cNvPr id="4" name="Rectangle 3"/>
          <p:cNvSpPr/>
          <p:nvPr/>
        </p:nvSpPr>
        <p:spPr>
          <a:xfrm>
            <a:off x="621792" y="960120"/>
            <a:ext cx="914400" cy="54864"/>
          </a:xfrm>
          <a:prstGeom prst="rect">
            <a:avLst/>
          </a:prstGeom>
          <a:solidFill>
            <a:srgbClr val="4E9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44200" y="6419088"/>
            <a:ext cx="822960" cy="228600"/>
          </a:xfrm>
          <a:prstGeom prst="rect">
            <a:avLst/>
          </a:prstGeom>
          <a:noFill/>
        </p:spPr>
        <p:txBody>
          <a:bodyPr wrap="square" lIns="54864" rIns="54864" tIns="54864" bIns="54864" anchor="t">
            <a:spAutoFit/>
          </a:bodyPr>
          <a:lstStyle/>
          <a:p>
            <a:pPr algn="r">
              <a:spcAft>
                <a:spcPts val="400"/>
              </a:spcAft>
            </a:pPr>
            <a:r>
              <a:rPr sz="1000" b="0">
                <a:solidFill>
                  <a:srgbClr val="647480"/>
                </a:solidFill>
                <a:latin typeface="Yu Gothic"/>
              </a:rPr>
              <a:t>02  /  08</a:t>
            </a:r>
          </a:p>
        </p:txBody>
      </p:sp>
      <p:sp>
        <p:nvSpPr>
          <p:cNvPr id="6" name="TextBox 5"/>
          <p:cNvSpPr txBox="1"/>
          <p:nvPr/>
        </p:nvSpPr>
        <p:spPr>
          <a:xfrm>
            <a:off x="777240" y="1325880"/>
            <a:ext cx="10515600" cy="594360"/>
          </a:xfrm>
          <a:prstGeom prst="rect">
            <a:avLst/>
          </a:prstGeom>
          <a:noFill/>
        </p:spPr>
        <p:txBody>
          <a:bodyPr wrap="square" lIns="54864" rIns="54864" tIns="54864" bIns="54864" anchor="t">
            <a:spAutoFit/>
          </a:bodyPr>
          <a:lstStyle/>
          <a:p>
            <a:pPr algn="l">
              <a:spcAft>
                <a:spcPts val="400"/>
              </a:spcAft>
            </a:pPr>
            <a:r>
              <a:rPr sz="2300" b="1">
                <a:solidFill>
                  <a:srgbClr val="204468"/>
                </a:solidFill>
                <a:latin typeface="Yu Gothic"/>
              </a:rPr>
              <a:t>必要な人に、サービスの情報が届くきっかけを増やしたい。</a:t>
            </a:r>
          </a:p>
        </p:txBody>
      </p:sp>
      <p:sp>
        <p:nvSpPr>
          <p:cNvPr id="7" name="Rounded Rectangle 6"/>
          <p:cNvSpPr/>
          <p:nvPr/>
        </p:nvSpPr>
        <p:spPr>
          <a:xfrm>
            <a:off x="731520" y="2240280"/>
            <a:ext cx="3474720" cy="2286000"/>
          </a:xfrm>
          <a:prstGeom prst="roundRect">
            <a:avLst/>
          </a:prstGeom>
          <a:solidFill>
            <a:srgbClr val="FFFFFF"/>
          </a:solidFill>
          <a:ln>
            <a:solidFill>
              <a:srgbClr val="D6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313432"/>
            <a:ext cx="73152" cy="2139696"/>
          </a:xfrm>
          <a:prstGeom prst="rect">
            <a:avLst/>
          </a:prstGeom>
          <a:solidFill>
            <a:srgbClr val="4A9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423160"/>
            <a:ext cx="3063239" cy="411480"/>
          </a:xfrm>
          <a:prstGeom prst="rect">
            <a:avLst/>
          </a:prstGeom>
          <a:noFill/>
        </p:spPr>
        <p:txBody>
          <a:bodyPr wrap="square" lIns="54864" rIns="54864" tIns="54864" bIns="54864" anchor="t">
            <a:spAutoFit/>
          </a:bodyPr>
          <a:lstStyle/>
          <a:p>
            <a:pPr algn="l">
              <a:spcAft>
                <a:spcPts val="400"/>
              </a:spcAft>
            </a:pPr>
            <a:r>
              <a:rPr sz="1800" b="1">
                <a:solidFill>
                  <a:srgbClr val="204468"/>
                </a:solidFill>
                <a:latin typeface="Yu Gothic"/>
              </a:rPr>
              <a:t>知るきっかけ</a:t>
            </a:r>
          </a:p>
        </p:txBody>
      </p:sp>
      <p:sp>
        <p:nvSpPr>
          <p:cNvPr id="10" name="TextBox 9"/>
          <p:cNvSpPr txBox="1"/>
          <p:nvPr/>
        </p:nvSpPr>
        <p:spPr>
          <a:xfrm>
            <a:off x="960120" y="2926080"/>
            <a:ext cx="3063239" cy="1463040"/>
          </a:xfrm>
          <a:prstGeom prst="rect">
            <a:avLst/>
          </a:prstGeom>
          <a:noFill/>
        </p:spPr>
        <p:txBody>
          <a:bodyPr wrap="square" lIns="54864" rIns="54864" tIns="54864" bIns="54864" anchor="t">
            <a:spAutoFit/>
          </a:bodyPr>
          <a:lstStyle/>
          <a:p>
            <a:pPr algn="l">
              <a:spcAft>
                <a:spcPts val="400"/>
              </a:spcAft>
            </a:pPr>
            <a:r>
              <a:rPr sz="1500" b="0">
                <a:solidFill>
                  <a:srgbClr val="2D3A45"/>
                </a:solidFill>
                <a:latin typeface="Yu Gothic"/>
              </a:rPr>
              <a:t>本人やご家族が、就労継続支援B型を知る入口を増やします。</a:t>
            </a:r>
          </a:p>
        </p:txBody>
      </p:sp>
      <p:sp>
        <p:nvSpPr>
          <p:cNvPr id="11" name="Rounded Rectangle 10"/>
          <p:cNvSpPr/>
          <p:nvPr/>
        </p:nvSpPr>
        <p:spPr>
          <a:xfrm>
            <a:off x="4389120" y="2240280"/>
            <a:ext cx="3474720" cy="2286000"/>
          </a:xfrm>
          <a:prstGeom prst="roundRect">
            <a:avLst/>
          </a:prstGeom>
          <a:solidFill>
            <a:srgbClr val="FFFFFF"/>
          </a:solidFill>
          <a:ln>
            <a:solidFill>
              <a:srgbClr val="D6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2313432"/>
            <a:ext cx="73152" cy="2139696"/>
          </a:xfrm>
          <a:prstGeom prst="rect">
            <a:avLst/>
          </a:prstGeom>
          <a:solidFill>
            <a:srgbClr val="4E9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423160"/>
            <a:ext cx="3063239" cy="411480"/>
          </a:xfrm>
          <a:prstGeom prst="rect">
            <a:avLst/>
          </a:prstGeom>
          <a:noFill/>
        </p:spPr>
        <p:txBody>
          <a:bodyPr wrap="square" lIns="54864" rIns="54864" tIns="54864" bIns="54864" anchor="t">
            <a:spAutoFit/>
          </a:bodyPr>
          <a:lstStyle/>
          <a:p>
            <a:pPr algn="l">
              <a:spcAft>
                <a:spcPts val="400"/>
              </a:spcAft>
            </a:pPr>
            <a:r>
              <a:rPr sz="1800" b="1">
                <a:solidFill>
                  <a:srgbClr val="204468"/>
                </a:solidFill>
                <a:latin typeface="Yu Gothic"/>
              </a:rPr>
              <a:t>地域のつながり</a:t>
            </a:r>
          </a:p>
        </p:txBody>
      </p:sp>
      <p:sp>
        <p:nvSpPr>
          <p:cNvPr id="14" name="TextBox 13"/>
          <p:cNvSpPr txBox="1"/>
          <p:nvPr/>
        </p:nvSpPr>
        <p:spPr>
          <a:xfrm>
            <a:off x="4617720" y="2926080"/>
            <a:ext cx="3063239" cy="1463040"/>
          </a:xfrm>
          <a:prstGeom prst="rect">
            <a:avLst/>
          </a:prstGeom>
          <a:noFill/>
        </p:spPr>
        <p:txBody>
          <a:bodyPr wrap="square" lIns="54864" rIns="54864" tIns="54864" bIns="54864" anchor="t">
            <a:spAutoFit/>
          </a:bodyPr>
          <a:lstStyle/>
          <a:p>
            <a:pPr algn="l">
              <a:spcAft>
                <a:spcPts val="400"/>
              </a:spcAft>
            </a:pPr>
            <a:r>
              <a:rPr sz="1500" b="0">
                <a:solidFill>
                  <a:srgbClr val="2D3A45"/>
                </a:solidFill>
                <a:latin typeface="Yu Gothic"/>
              </a:rPr>
              <a:t>地域のお店と福祉サービスが、無理のない形でつながります。</a:t>
            </a:r>
          </a:p>
        </p:txBody>
      </p:sp>
      <p:sp>
        <p:nvSpPr>
          <p:cNvPr id="15" name="Rounded Rectangle 14"/>
          <p:cNvSpPr/>
          <p:nvPr/>
        </p:nvSpPr>
        <p:spPr>
          <a:xfrm>
            <a:off x="8046720" y="2240280"/>
            <a:ext cx="3383280" cy="2286000"/>
          </a:xfrm>
          <a:prstGeom prst="roundRect">
            <a:avLst/>
          </a:prstGeom>
          <a:solidFill>
            <a:srgbClr val="FFFFFF"/>
          </a:solidFill>
          <a:ln>
            <a:solidFill>
              <a:srgbClr val="D6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2313432"/>
            <a:ext cx="73152" cy="2139696"/>
          </a:xfrm>
          <a:prstGeom prst="rect">
            <a:avLst/>
          </a:prstGeom>
          <a:solidFill>
            <a:srgbClr val="EEB9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2423160"/>
            <a:ext cx="2971800" cy="411480"/>
          </a:xfrm>
          <a:prstGeom prst="rect">
            <a:avLst/>
          </a:prstGeom>
          <a:noFill/>
        </p:spPr>
        <p:txBody>
          <a:bodyPr wrap="square" lIns="54864" rIns="54864" tIns="54864" bIns="54864" anchor="t">
            <a:spAutoFit/>
          </a:bodyPr>
          <a:lstStyle/>
          <a:p>
            <a:pPr algn="l">
              <a:spcAft>
                <a:spcPts val="400"/>
              </a:spcAft>
            </a:pPr>
            <a:r>
              <a:rPr sz="1800" b="1">
                <a:solidFill>
                  <a:srgbClr val="204468"/>
                </a:solidFill>
                <a:latin typeface="Yu Gothic"/>
              </a:rPr>
              <a:t>小さく試せる</a:t>
            </a:r>
          </a:p>
        </p:txBody>
      </p:sp>
      <p:sp>
        <p:nvSpPr>
          <p:cNvPr id="18" name="TextBox 17"/>
          <p:cNvSpPr txBox="1"/>
          <p:nvPr/>
        </p:nvSpPr>
        <p:spPr>
          <a:xfrm>
            <a:off x="8275320" y="2926080"/>
            <a:ext cx="2971800" cy="1463040"/>
          </a:xfrm>
          <a:prstGeom prst="rect">
            <a:avLst/>
          </a:prstGeom>
          <a:noFill/>
        </p:spPr>
        <p:txBody>
          <a:bodyPr wrap="square" lIns="54864" rIns="54864" tIns="54864" bIns="54864" anchor="t">
            <a:spAutoFit/>
          </a:bodyPr>
          <a:lstStyle/>
          <a:p>
            <a:pPr algn="l">
              <a:spcAft>
                <a:spcPts val="400"/>
              </a:spcAft>
            </a:pPr>
            <a:r>
              <a:rPr sz="1500" b="0">
                <a:solidFill>
                  <a:srgbClr val="2D3A45"/>
                </a:solidFill>
                <a:latin typeface="Yu Gothic"/>
              </a:rPr>
              <a:t>まずは少部数・短期間で試し、負担や反応を確認します。</a:t>
            </a:r>
          </a:p>
        </p:txBody>
      </p:sp>
      <p:sp>
        <p:nvSpPr>
          <p:cNvPr id="19" name="TextBox 18"/>
          <p:cNvSpPr txBox="1"/>
          <p:nvPr/>
        </p:nvSpPr>
        <p:spPr>
          <a:xfrm>
            <a:off x="822960" y="5166360"/>
            <a:ext cx="10515600" cy="365760"/>
          </a:xfrm>
          <a:prstGeom prst="rect">
            <a:avLst/>
          </a:prstGeom>
          <a:noFill/>
        </p:spPr>
        <p:txBody>
          <a:bodyPr wrap="square" lIns="54864" rIns="54864" tIns="54864" bIns="54864" anchor="t">
            <a:spAutoFit/>
          </a:bodyPr>
          <a:lstStyle/>
          <a:p>
            <a:pPr algn="l">
              <a:spcAft>
                <a:spcPts val="400"/>
              </a:spcAft>
            </a:pPr>
            <a:r>
              <a:rPr sz="1400" b="0">
                <a:solidFill>
                  <a:srgbClr val="647480"/>
                </a:solidFill>
                <a:latin typeface="Yu Gothic"/>
              </a:rPr>
              <a:t>※ 設置だけで利用者が増えると約束するものではありません。</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881360" cy="548640"/>
          </a:xfrm>
          <a:prstGeom prst="rect">
            <a:avLst/>
          </a:prstGeom>
          <a:noFill/>
        </p:spPr>
        <p:txBody>
          <a:bodyPr wrap="square" lIns="54864" rIns="54864" tIns="54864" bIns="54864" anchor="t">
            <a:spAutoFit/>
          </a:bodyPr>
          <a:lstStyle/>
          <a:p>
            <a:pPr algn="l">
              <a:spcAft>
                <a:spcPts val="400"/>
              </a:spcAft>
            </a:pPr>
            <a:r>
              <a:rPr sz="2600" b="1">
                <a:solidFill>
                  <a:srgbClr val="204468"/>
                </a:solidFill>
                <a:latin typeface="Yu Gothic"/>
              </a:rPr>
              <a:t>お店にお願いしたいこと</a:t>
            </a:r>
          </a:p>
        </p:txBody>
      </p:sp>
      <p:sp>
        <p:nvSpPr>
          <p:cNvPr id="4" name="Rectangle 3"/>
          <p:cNvSpPr/>
          <p:nvPr/>
        </p:nvSpPr>
        <p:spPr>
          <a:xfrm>
            <a:off x="621792" y="960120"/>
            <a:ext cx="914400" cy="54864"/>
          </a:xfrm>
          <a:prstGeom prst="rect">
            <a:avLst/>
          </a:prstGeom>
          <a:solidFill>
            <a:srgbClr val="4E9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44200" y="6419088"/>
            <a:ext cx="822960" cy="228600"/>
          </a:xfrm>
          <a:prstGeom prst="rect">
            <a:avLst/>
          </a:prstGeom>
          <a:noFill/>
        </p:spPr>
        <p:txBody>
          <a:bodyPr wrap="square" lIns="54864" rIns="54864" tIns="54864" bIns="54864" anchor="t">
            <a:spAutoFit/>
          </a:bodyPr>
          <a:lstStyle/>
          <a:p>
            <a:pPr algn="r">
              <a:spcAft>
                <a:spcPts val="400"/>
              </a:spcAft>
            </a:pPr>
            <a:r>
              <a:rPr sz="1000" b="0">
                <a:solidFill>
                  <a:srgbClr val="647480"/>
                </a:solidFill>
                <a:latin typeface="Yu Gothic"/>
              </a:rPr>
              <a:t>03  /  08</a:t>
            </a:r>
          </a:p>
        </p:txBody>
      </p:sp>
      <p:sp>
        <p:nvSpPr>
          <p:cNvPr id="6" name="TextBox 5"/>
          <p:cNvSpPr txBox="1"/>
          <p:nvPr/>
        </p:nvSpPr>
        <p:spPr>
          <a:xfrm>
            <a:off x="777240" y="1298448"/>
            <a:ext cx="10789920" cy="548640"/>
          </a:xfrm>
          <a:prstGeom prst="rect">
            <a:avLst/>
          </a:prstGeom>
          <a:noFill/>
        </p:spPr>
        <p:txBody>
          <a:bodyPr wrap="square" lIns="54864" rIns="54864" tIns="54864" bIns="54864" anchor="t">
            <a:spAutoFit/>
          </a:bodyPr>
          <a:lstStyle/>
          <a:p>
            <a:pPr algn="l">
              <a:spcAft>
                <a:spcPts val="400"/>
              </a:spcAft>
            </a:pPr>
            <a:r>
              <a:rPr sz="2200" b="1">
                <a:solidFill>
                  <a:srgbClr val="204468"/>
                </a:solidFill>
                <a:latin typeface="Yu Gothic"/>
              </a:rPr>
              <a:t>お願いは、パンフレットを数部置いていただくことだけです。</a:t>
            </a:r>
          </a:p>
        </p:txBody>
      </p:sp>
      <p:sp>
        <p:nvSpPr>
          <p:cNvPr id="7" name="Rounded Rectangle 6"/>
          <p:cNvSpPr/>
          <p:nvPr/>
        </p:nvSpPr>
        <p:spPr>
          <a:xfrm>
            <a:off x="822960" y="2148840"/>
            <a:ext cx="5074920" cy="2423160"/>
          </a:xfrm>
          <a:prstGeom prst="roundRect">
            <a:avLst/>
          </a:prstGeom>
          <a:solidFill>
            <a:srgbClr val="FFFFFF"/>
          </a:solidFill>
          <a:ln>
            <a:solidFill>
              <a:srgbClr val="D6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221992"/>
            <a:ext cx="73152" cy="2276856"/>
          </a:xfrm>
          <a:prstGeom prst="rect">
            <a:avLst/>
          </a:prstGeom>
          <a:solidFill>
            <a:srgbClr val="4A9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331720"/>
            <a:ext cx="4663440" cy="411480"/>
          </a:xfrm>
          <a:prstGeom prst="rect">
            <a:avLst/>
          </a:prstGeom>
          <a:noFill/>
        </p:spPr>
        <p:txBody>
          <a:bodyPr wrap="square" lIns="54864" rIns="54864" tIns="54864" bIns="54864" anchor="t">
            <a:spAutoFit/>
          </a:bodyPr>
          <a:lstStyle/>
          <a:p>
            <a:pPr algn="l">
              <a:spcAft>
                <a:spcPts val="400"/>
              </a:spcAft>
            </a:pPr>
            <a:r>
              <a:rPr sz="1800" b="1">
                <a:solidFill>
                  <a:srgbClr val="204468"/>
                </a:solidFill>
                <a:latin typeface="Yu Gothic"/>
              </a:rPr>
              <a:t>お願いしたいこと</a:t>
            </a:r>
          </a:p>
        </p:txBody>
      </p:sp>
      <p:sp>
        <p:nvSpPr>
          <p:cNvPr id="10" name="TextBox 9"/>
          <p:cNvSpPr txBox="1"/>
          <p:nvPr/>
        </p:nvSpPr>
        <p:spPr>
          <a:xfrm>
            <a:off x="1051560" y="2834640"/>
            <a:ext cx="4663440" cy="1600200"/>
          </a:xfrm>
          <a:prstGeom prst="rect">
            <a:avLst/>
          </a:prstGeom>
          <a:noFill/>
        </p:spPr>
        <p:txBody>
          <a:bodyPr wrap="square" lIns="54864" rIns="54864" tIns="54864" bIns="54864" anchor="t">
            <a:spAutoFit/>
          </a:bodyPr>
          <a:lstStyle/>
          <a:p>
            <a:pPr algn="l">
              <a:spcAft>
                <a:spcPts val="400"/>
              </a:spcAft>
            </a:pPr>
            <a:r>
              <a:rPr sz="1500" b="0">
                <a:solidFill>
                  <a:srgbClr val="2D3A45"/>
                </a:solidFill>
                <a:latin typeface="Yu Gothic"/>
              </a:rPr>
              <a:t>・目立ちすぎない場所に数部
・置く場所はお店の判断でOK
・まずは1か月のお試し設置</a:t>
            </a:r>
          </a:p>
        </p:txBody>
      </p:sp>
      <p:sp>
        <p:nvSpPr>
          <p:cNvPr id="11" name="Rounded Rectangle 10"/>
          <p:cNvSpPr/>
          <p:nvPr/>
        </p:nvSpPr>
        <p:spPr>
          <a:xfrm>
            <a:off x="6263640" y="2148840"/>
            <a:ext cx="5074920" cy="2423160"/>
          </a:xfrm>
          <a:prstGeom prst="roundRect">
            <a:avLst/>
          </a:prstGeom>
          <a:solidFill>
            <a:srgbClr val="FFFFFF"/>
          </a:solidFill>
          <a:ln>
            <a:solidFill>
              <a:srgbClr val="D6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2221992"/>
            <a:ext cx="73152" cy="2276856"/>
          </a:xfrm>
          <a:prstGeom prst="rect">
            <a:avLst/>
          </a:prstGeom>
          <a:solidFill>
            <a:srgbClr val="4E9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331720"/>
            <a:ext cx="4663440" cy="411480"/>
          </a:xfrm>
          <a:prstGeom prst="rect">
            <a:avLst/>
          </a:prstGeom>
          <a:noFill/>
        </p:spPr>
        <p:txBody>
          <a:bodyPr wrap="square" lIns="54864" rIns="54864" tIns="54864" bIns="54864" anchor="t">
            <a:spAutoFit/>
          </a:bodyPr>
          <a:lstStyle/>
          <a:p>
            <a:pPr algn="l">
              <a:spcAft>
                <a:spcPts val="400"/>
              </a:spcAft>
            </a:pPr>
            <a:r>
              <a:rPr sz="1800" b="1">
                <a:solidFill>
                  <a:srgbClr val="204468"/>
                </a:solidFill>
                <a:latin typeface="Yu Gothic"/>
              </a:rPr>
              <a:t>お願いしないこと</a:t>
            </a:r>
          </a:p>
        </p:txBody>
      </p:sp>
      <p:sp>
        <p:nvSpPr>
          <p:cNvPr id="14" name="TextBox 13"/>
          <p:cNvSpPr txBox="1"/>
          <p:nvPr/>
        </p:nvSpPr>
        <p:spPr>
          <a:xfrm>
            <a:off x="6492240" y="2834640"/>
            <a:ext cx="4663440" cy="1600200"/>
          </a:xfrm>
          <a:prstGeom prst="rect">
            <a:avLst/>
          </a:prstGeom>
          <a:noFill/>
        </p:spPr>
        <p:txBody>
          <a:bodyPr wrap="square" lIns="54864" rIns="54864" tIns="54864" bIns="54864" anchor="t">
            <a:spAutoFit/>
          </a:bodyPr>
          <a:lstStyle/>
          <a:p>
            <a:pPr algn="l">
              <a:spcAft>
                <a:spcPts val="400"/>
              </a:spcAft>
            </a:pPr>
            <a:r>
              <a:rPr sz="1500" b="0">
                <a:solidFill>
                  <a:srgbClr val="2D3A45"/>
                </a:solidFill>
                <a:latin typeface="Yu Gothic"/>
              </a:rPr>
              <a:t>・お客様への説明や勧誘
・お店での申込受付
・費用負担や購入
・設置を続ける義務</a:t>
            </a:r>
          </a:p>
        </p:txBody>
      </p:sp>
      <p:sp>
        <p:nvSpPr>
          <p:cNvPr id="15" name="TextBox 14"/>
          <p:cNvSpPr txBox="1"/>
          <p:nvPr/>
        </p:nvSpPr>
        <p:spPr>
          <a:xfrm>
            <a:off x="914400" y="5166360"/>
            <a:ext cx="10241280" cy="411480"/>
          </a:xfrm>
          <a:prstGeom prst="rect">
            <a:avLst/>
          </a:prstGeom>
          <a:noFill/>
        </p:spPr>
        <p:txBody>
          <a:bodyPr wrap="square" lIns="54864" rIns="54864" tIns="54864" bIns="54864" anchor="t">
            <a:spAutoFit/>
          </a:bodyPr>
          <a:lstStyle/>
          <a:p>
            <a:pPr algn="l">
              <a:spcAft>
                <a:spcPts val="400"/>
              </a:spcAft>
            </a:pPr>
            <a:r>
              <a:rPr sz="1900" b="1">
                <a:solidFill>
                  <a:srgbClr val="2D3A45"/>
                </a:solidFill>
                <a:latin typeface="Yu Gothic"/>
              </a:rPr>
              <a:t>ご迷惑であれば、いつでも断る・撤去することができます。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881360" cy="548640"/>
          </a:xfrm>
          <a:prstGeom prst="rect">
            <a:avLst/>
          </a:prstGeom>
          <a:noFill/>
        </p:spPr>
        <p:txBody>
          <a:bodyPr wrap="square" lIns="54864" rIns="54864" tIns="54864" bIns="54864" anchor="t">
            <a:spAutoFit/>
          </a:bodyPr>
          <a:lstStyle/>
          <a:p>
            <a:pPr algn="l">
              <a:spcAft>
                <a:spcPts val="400"/>
              </a:spcAft>
            </a:pPr>
            <a:r>
              <a:rPr sz="2600" b="1">
                <a:solidFill>
                  <a:srgbClr val="204468"/>
                </a:solidFill>
                <a:latin typeface="Yu Gothic"/>
              </a:rPr>
              <a:t>お店の負担をできるだけ少なく</a:t>
            </a:r>
          </a:p>
        </p:txBody>
      </p:sp>
      <p:sp>
        <p:nvSpPr>
          <p:cNvPr id="4" name="Rectangle 3"/>
          <p:cNvSpPr/>
          <p:nvPr/>
        </p:nvSpPr>
        <p:spPr>
          <a:xfrm>
            <a:off x="621792" y="960120"/>
            <a:ext cx="914400" cy="54864"/>
          </a:xfrm>
          <a:prstGeom prst="rect">
            <a:avLst/>
          </a:prstGeom>
          <a:solidFill>
            <a:srgbClr val="4E9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44200" y="6419088"/>
            <a:ext cx="822960" cy="228600"/>
          </a:xfrm>
          <a:prstGeom prst="rect">
            <a:avLst/>
          </a:prstGeom>
          <a:noFill/>
        </p:spPr>
        <p:txBody>
          <a:bodyPr wrap="square" lIns="54864" rIns="54864" tIns="54864" bIns="54864" anchor="t">
            <a:spAutoFit/>
          </a:bodyPr>
          <a:lstStyle/>
          <a:p>
            <a:pPr algn="r">
              <a:spcAft>
                <a:spcPts val="400"/>
              </a:spcAft>
            </a:pPr>
            <a:r>
              <a:rPr sz="1000" b="0">
                <a:solidFill>
                  <a:srgbClr val="647480"/>
                </a:solidFill>
                <a:latin typeface="Yu Gothic"/>
              </a:rPr>
              <a:t>04  /  08</a:t>
            </a:r>
          </a:p>
        </p:txBody>
      </p:sp>
      <p:sp>
        <p:nvSpPr>
          <p:cNvPr id="6" name="Rounded Rectangle 5"/>
          <p:cNvSpPr/>
          <p:nvPr/>
        </p:nvSpPr>
        <p:spPr>
          <a:xfrm>
            <a:off x="822960" y="1508760"/>
            <a:ext cx="5029200" cy="1371600"/>
          </a:xfrm>
          <a:prstGeom prst="roundRect">
            <a:avLst/>
          </a:prstGeom>
          <a:solidFill>
            <a:srgbClr val="FFFFFF"/>
          </a:solidFill>
          <a:ln>
            <a:solidFill>
              <a:srgbClr val="D6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581912"/>
            <a:ext cx="73152" cy="1225296"/>
          </a:xfrm>
          <a:prstGeom prst="rect">
            <a:avLst/>
          </a:prstGeom>
          <a:solidFill>
            <a:srgbClr val="4A9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691639"/>
            <a:ext cx="4617720" cy="411480"/>
          </a:xfrm>
          <a:prstGeom prst="rect">
            <a:avLst/>
          </a:prstGeom>
          <a:noFill/>
        </p:spPr>
        <p:txBody>
          <a:bodyPr wrap="square" lIns="54864" rIns="54864" tIns="54864" bIns="54864" anchor="t">
            <a:spAutoFit/>
          </a:bodyPr>
          <a:lstStyle/>
          <a:p>
            <a:pPr algn="l">
              <a:spcAft>
                <a:spcPts val="400"/>
              </a:spcAft>
            </a:pPr>
            <a:r>
              <a:rPr sz="1800" b="1">
                <a:solidFill>
                  <a:srgbClr val="204468"/>
                </a:solidFill>
                <a:latin typeface="Yu Gothic"/>
              </a:rPr>
              <a:t>費用</a:t>
            </a:r>
          </a:p>
        </p:txBody>
      </p:sp>
      <p:sp>
        <p:nvSpPr>
          <p:cNvPr id="9" name="TextBox 8"/>
          <p:cNvSpPr txBox="1"/>
          <p:nvPr/>
        </p:nvSpPr>
        <p:spPr>
          <a:xfrm>
            <a:off x="1051560" y="2194560"/>
            <a:ext cx="4617720" cy="548640"/>
          </a:xfrm>
          <a:prstGeom prst="rect">
            <a:avLst/>
          </a:prstGeom>
          <a:noFill/>
        </p:spPr>
        <p:txBody>
          <a:bodyPr wrap="square" lIns="54864" rIns="54864" tIns="54864" bIns="54864" anchor="t">
            <a:spAutoFit/>
          </a:bodyPr>
          <a:lstStyle/>
          <a:p>
            <a:pPr algn="l">
              <a:spcAft>
                <a:spcPts val="400"/>
              </a:spcAft>
            </a:pPr>
            <a:r>
              <a:rPr sz="1500" b="0">
                <a:solidFill>
                  <a:srgbClr val="2D3A45"/>
                </a:solidFill>
                <a:latin typeface="Yu Gothic"/>
              </a:rPr>
              <a:t>無料。お店に費用負担はありません。</a:t>
            </a:r>
          </a:p>
        </p:txBody>
      </p:sp>
      <p:sp>
        <p:nvSpPr>
          <p:cNvPr id="10" name="Rounded Rectangle 9"/>
          <p:cNvSpPr/>
          <p:nvPr/>
        </p:nvSpPr>
        <p:spPr>
          <a:xfrm>
            <a:off x="6309360" y="1508760"/>
            <a:ext cx="5029200" cy="1371600"/>
          </a:xfrm>
          <a:prstGeom prst="roundRect">
            <a:avLst/>
          </a:prstGeom>
          <a:solidFill>
            <a:srgbClr val="FFFFFF"/>
          </a:solidFill>
          <a:ln>
            <a:solidFill>
              <a:srgbClr val="D6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581912"/>
            <a:ext cx="73152" cy="1225296"/>
          </a:xfrm>
          <a:prstGeom prst="rect">
            <a:avLst/>
          </a:prstGeom>
          <a:solidFill>
            <a:srgbClr val="4E9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1691639"/>
            <a:ext cx="4617720" cy="411480"/>
          </a:xfrm>
          <a:prstGeom prst="rect">
            <a:avLst/>
          </a:prstGeom>
          <a:noFill/>
        </p:spPr>
        <p:txBody>
          <a:bodyPr wrap="square" lIns="54864" rIns="54864" tIns="54864" bIns="54864" anchor="t">
            <a:spAutoFit/>
          </a:bodyPr>
          <a:lstStyle/>
          <a:p>
            <a:pPr algn="l">
              <a:spcAft>
                <a:spcPts val="400"/>
              </a:spcAft>
            </a:pPr>
            <a:r>
              <a:rPr sz="1800" b="1">
                <a:solidFill>
                  <a:srgbClr val="204468"/>
                </a:solidFill>
                <a:latin typeface="Yu Gothic"/>
              </a:rPr>
              <a:t>数量</a:t>
            </a:r>
          </a:p>
        </p:txBody>
      </p:sp>
      <p:sp>
        <p:nvSpPr>
          <p:cNvPr id="13" name="TextBox 12"/>
          <p:cNvSpPr txBox="1"/>
          <p:nvPr/>
        </p:nvSpPr>
        <p:spPr>
          <a:xfrm>
            <a:off x="6537960" y="2194560"/>
            <a:ext cx="4617720" cy="548640"/>
          </a:xfrm>
          <a:prstGeom prst="rect">
            <a:avLst/>
          </a:prstGeom>
          <a:noFill/>
        </p:spPr>
        <p:txBody>
          <a:bodyPr wrap="square" lIns="54864" rIns="54864" tIns="54864" bIns="54864" anchor="t">
            <a:spAutoFit/>
          </a:bodyPr>
          <a:lstStyle/>
          <a:p>
            <a:pPr algn="l">
              <a:spcAft>
                <a:spcPts val="400"/>
              </a:spcAft>
            </a:pPr>
            <a:r>
              <a:rPr sz="1500" b="0">
                <a:solidFill>
                  <a:srgbClr val="2D3A45"/>
                </a:solidFill>
                <a:latin typeface="Yu Gothic"/>
              </a:rPr>
              <a:t>最初は数部だけ。置く量はお店が決められます。</a:t>
            </a:r>
          </a:p>
        </p:txBody>
      </p:sp>
      <p:sp>
        <p:nvSpPr>
          <p:cNvPr id="14" name="Rounded Rectangle 13"/>
          <p:cNvSpPr/>
          <p:nvPr/>
        </p:nvSpPr>
        <p:spPr>
          <a:xfrm>
            <a:off x="822960" y="3337560"/>
            <a:ext cx="5029200" cy="1371600"/>
          </a:xfrm>
          <a:prstGeom prst="roundRect">
            <a:avLst/>
          </a:prstGeom>
          <a:solidFill>
            <a:srgbClr val="FFFFFF"/>
          </a:solidFill>
          <a:ln>
            <a:solidFill>
              <a:srgbClr val="D6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3410712"/>
            <a:ext cx="73152" cy="1225296"/>
          </a:xfrm>
          <a:prstGeom prst="rect">
            <a:avLst/>
          </a:prstGeom>
          <a:solidFill>
            <a:srgbClr val="4A9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520440"/>
            <a:ext cx="4617720" cy="411480"/>
          </a:xfrm>
          <a:prstGeom prst="rect">
            <a:avLst/>
          </a:prstGeom>
          <a:noFill/>
        </p:spPr>
        <p:txBody>
          <a:bodyPr wrap="square" lIns="54864" rIns="54864" tIns="54864" bIns="54864" anchor="t">
            <a:spAutoFit/>
          </a:bodyPr>
          <a:lstStyle/>
          <a:p>
            <a:pPr algn="l">
              <a:spcAft>
                <a:spcPts val="400"/>
              </a:spcAft>
            </a:pPr>
            <a:r>
              <a:rPr sz="1800" b="1">
                <a:solidFill>
                  <a:srgbClr val="204468"/>
                </a:solidFill>
                <a:latin typeface="Yu Gothic"/>
              </a:rPr>
              <a:t>場所</a:t>
            </a:r>
          </a:p>
        </p:txBody>
      </p:sp>
      <p:sp>
        <p:nvSpPr>
          <p:cNvPr id="17" name="TextBox 16"/>
          <p:cNvSpPr txBox="1"/>
          <p:nvPr/>
        </p:nvSpPr>
        <p:spPr>
          <a:xfrm>
            <a:off x="1051560" y="4023360"/>
            <a:ext cx="4617720" cy="548640"/>
          </a:xfrm>
          <a:prstGeom prst="rect">
            <a:avLst/>
          </a:prstGeom>
          <a:noFill/>
        </p:spPr>
        <p:txBody>
          <a:bodyPr wrap="square" lIns="54864" rIns="54864" tIns="54864" bIns="54864" anchor="t">
            <a:spAutoFit/>
          </a:bodyPr>
          <a:lstStyle/>
          <a:p>
            <a:pPr algn="l">
              <a:spcAft>
                <a:spcPts val="400"/>
              </a:spcAft>
            </a:pPr>
            <a:r>
              <a:rPr sz="1500" b="0">
                <a:solidFill>
                  <a:srgbClr val="2D3A45"/>
                </a:solidFill>
                <a:latin typeface="Yu Gothic"/>
              </a:rPr>
              <a:t>レジ横・掲示板など、邪魔にならない場所で。</a:t>
            </a:r>
          </a:p>
        </p:txBody>
      </p:sp>
      <p:sp>
        <p:nvSpPr>
          <p:cNvPr id="18" name="Rounded Rectangle 17"/>
          <p:cNvSpPr/>
          <p:nvPr/>
        </p:nvSpPr>
        <p:spPr>
          <a:xfrm>
            <a:off x="6309360" y="3337560"/>
            <a:ext cx="5029200" cy="1371600"/>
          </a:xfrm>
          <a:prstGeom prst="roundRect">
            <a:avLst/>
          </a:prstGeom>
          <a:solidFill>
            <a:srgbClr val="FFFFFF"/>
          </a:solidFill>
          <a:ln>
            <a:solidFill>
              <a:srgbClr val="D6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60" y="3410712"/>
            <a:ext cx="73152" cy="1225296"/>
          </a:xfrm>
          <a:prstGeom prst="rect">
            <a:avLst/>
          </a:prstGeom>
          <a:solidFill>
            <a:srgbClr val="4E9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3520440"/>
            <a:ext cx="4617720" cy="411480"/>
          </a:xfrm>
          <a:prstGeom prst="rect">
            <a:avLst/>
          </a:prstGeom>
          <a:noFill/>
        </p:spPr>
        <p:txBody>
          <a:bodyPr wrap="square" lIns="54864" rIns="54864" tIns="54864" bIns="54864" anchor="t">
            <a:spAutoFit/>
          </a:bodyPr>
          <a:lstStyle/>
          <a:p>
            <a:pPr algn="l">
              <a:spcAft>
                <a:spcPts val="400"/>
              </a:spcAft>
            </a:pPr>
            <a:r>
              <a:rPr sz="1800" b="1">
                <a:solidFill>
                  <a:srgbClr val="204468"/>
                </a:solidFill>
                <a:latin typeface="Yu Gothic"/>
              </a:rPr>
              <a:t>期間</a:t>
            </a:r>
          </a:p>
        </p:txBody>
      </p:sp>
      <p:sp>
        <p:nvSpPr>
          <p:cNvPr id="21" name="TextBox 20"/>
          <p:cNvSpPr txBox="1"/>
          <p:nvPr/>
        </p:nvSpPr>
        <p:spPr>
          <a:xfrm>
            <a:off x="6537960" y="4023360"/>
            <a:ext cx="4617720" cy="548640"/>
          </a:xfrm>
          <a:prstGeom prst="rect">
            <a:avLst/>
          </a:prstGeom>
          <a:noFill/>
        </p:spPr>
        <p:txBody>
          <a:bodyPr wrap="square" lIns="54864" rIns="54864" tIns="54864" bIns="54864" anchor="t">
            <a:spAutoFit/>
          </a:bodyPr>
          <a:lstStyle/>
          <a:p>
            <a:pPr algn="l">
              <a:spcAft>
                <a:spcPts val="400"/>
              </a:spcAft>
            </a:pPr>
            <a:r>
              <a:rPr sz="1500" b="0">
                <a:solidFill>
                  <a:srgbClr val="2D3A45"/>
                </a:solidFill>
                <a:latin typeface="Yu Gothic"/>
              </a:rPr>
              <a:t>まず1か月。継続するかは相談して決めます。</a:t>
            </a:r>
          </a:p>
        </p:txBody>
      </p:sp>
      <p:sp>
        <p:nvSpPr>
          <p:cNvPr id="22" name="TextBox 21"/>
          <p:cNvSpPr txBox="1"/>
          <p:nvPr/>
        </p:nvSpPr>
        <p:spPr>
          <a:xfrm>
            <a:off x="914400" y="5486400"/>
            <a:ext cx="10058400" cy="365760"/>
          </a:xfrm>
          <a:prstGeom prst="rect">
            <a:avLst/>
          </a:prstGeom>
          <a:noFill/>
        </p:spPr>
        <p:txBody>
          <a:bodyPr wrap="square" lIns="54864" rIns="54864" tIns="54864" bIns="54864" anchor="t">
            <a:spAutoFit/>
          </a:bodyPr>
          <a:lstStyle/>
          <a:p>
            <a:pPr algn="l">
              <a:spcAft>
                <a:spcPts val="400"/>
              </a:spcAft>
            </a:pPr>
            <a:r>
              <a:rPr sz="1800" b="1">
                <a:solidFill>
                  <a:srgbClr val="204468"/>
                </a:solidFill>
                <a:latin typeface="Yu Gothic"/>
              </a:rPr>
              <a:t>お店の営業やお客様の動線を最優先にします。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881360" cy="548640"/>
          </a:xfrm>
          <a:prstGeom prst="rect">
            <a:avLst/>
          </a:prstGeom>
          <a:noFill/>
        </p:spPr>
        <p:txBody>
          <a:bodyPr wrap="square" lIns="54864" rIns="54864" tIns="54864" bIns="54864" anchor="t">
            <a:spAutoFit/>
          </a:bodyPr>
          <a:lstStyle/>
          <a:p>
            <a:pPr algn="l">
              <a:spcAft>
                <a:spcPts val="400"/>
              </a:spcAft>
            </a:pPr>
            <a:r>
              <a:rPr sz="2600" b="1">
                <a:solidFill>
                  <a:srgbClr val="204468"/>
                </a:solidFill>
                <a:latin typeface="Yu Gothic"/>
              </a:rPr>
              <a:t>私が担当すること・大切にすること</a:t>
            </a:r>
          </a:p>
        </p:txBody>
      </p:sp>
      <p:sp>
        <p:nvSpPr>
          <p:cNvPr id="4" name="Rectangle 3"/>
          <p:cNvSpPr/>
          <p:nvPr/>
        </p:nvSpPr>
        <p:spPr>
          <a:xfrm>
            <a:off x="621792" y="960120"/>
            <a:ext cx="914400" cy="54864"/>
          </a:xfrm>
          <a:prstGeom prst="rect">
            <a:avLst/>
          </a:prstGeom>
          <a:solidFill>
            <a:srgbClr val="4E9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44200" y="6419088"/>
            <a:ext cx="822960" cy="228600"/>
          </a:xfrm>
          <a:prstGeom prst="rect">
            <a:avLst/>
          </a:prstGeom>
          <a:noFill/>
        </p:spPr>
        <p:txBody>
          <a:bodyPr wrap="square" lIns="54864" rIns="54864" tIns="54864" bIns="54864" anchor="t">
            <a:spAutoFit/>
          </a:bodyPr>
          <a:lstStyle/>
          <a:p>
            <a:pPr algn="r">
              <a:spcAft>
                <a:spcPts val="400"/>
              </a:spcAft>
            </a:pPr>
            <a:r>
              <a:rPr sz="1000" b="0">
                <a:solidFill>
                  <a:srgbClr val="647480"/>
                </a:solidFill>
                <a:latin typeface="Yu Gothic"/>
              </a:rPr>
              <a:t>05  /  08</a:t>
            </a:r>
          </a:p>
        </p:txBody>
      </p:sp>
      <p:sp>
        <p:nvSpPr>
          <p:cNvPr id="6" name="Rounded Rectangle 5"/>
          <p:cNvSpPr/>
          <p:nvPr/>
        </p:nvSpPr>
        <p:spPr>
          <a:xfrm>
            <a:off x="822960" y="1417320"/>
            <a:ext cx="5029200" cy="1828800"/>
          </a:xfrm>
          <a:prstGeom prst="roundRect">
            <a:avLst/>
          </a:prstGeom>
          <a:solidFill>
            <a:srgbClr val="FFFFFF"/>
          </a:solidFill>
          <a:ln>
            <a:solidFill>
              <a:srgbClr val="D6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490472"/>
            <a:ext cx="73152" cy="1682496"/>
          </a:xfrm>
          <a:prstGeom prst="rect">
            <a:avLst/>
          </a:prstGeom>
          <a:solidFill>
            <a:srgbClr val="4A9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600200"/>
            <a:ext cx="4617720" cy="411480"/>
          </a:xfrm>
          <a:prstGeom prst="rect">
            <a:avLst/>
          </a:prstGeom>
          <a:noFill/>
        </p:spPr>
        <p:txBody>
          <a:bodyPr wrap="square" lIns="54864" rIns="54864" tIns="54864" bIns="54864" anchor="t">
            <a:spAutoFit/>
          </a:bodyPr>
          <a:lstStyle/>
          <a:p>
            <a:pPr algn="l">
              <a:spcAft>
                <a:spcPts val="400"/>
              </a:spcAft>
            </a:pPr>
            <a:r>
              <a:rPr sz="1800" b="1">
                <a:solidFill>
                  <a:srgbClr val="204468"/>
                </a:solidFill>
                <a:latin typeface="Yu Gothic"/>
              </a:rPr>
              <a:t>設置前</a:t>
            </a:r>
          </a:p>
        </p:txBody>
      </p:sp>
      <p:sp>
        <p:nvSpPr>
          <p:cNvPr id="9" name="TextBox 8"/>
          <p:cNvSpPr txBox="1"/>
          <p:nvPr/>
        </p:nvSpPr>
        <p:spPr>
          <a:xfrm>
            <a:off x="1051560" y="2103120"/>
            <a:ext cx="4617720" cy="1005840"/>
          </a:xfrm>
          <a:prstGeom prst="rect">
            <a:avLst/>
          </a:prstGeom>
          <a:noFill/>
        </p:spPr>
        <p:txBody>
          <a:bodyPr wrap="square" lIns="54864" rIns="54864" tIns="54864" bIns="54864" anchor="t">
            <a:spAutoFit/>
          </a:bodyPr>
          <a:lstStyle/>
          <a:p>
            <a:pPr algn="l">
              <a:spcAft>
                <a:spcPts val="400"/>
              </a:spcAft>
            </a:pPr>
            <a:r>
              <a:rPr sz="1500" b="0">
                <a:solidFill>
                  <a:srgbClr val="2D3A45"/>
                </a:solidFill>
                <a:latin typeface="Yu Gothic"/>
              </a:rPr>
              <a:t>必ず許可をいただいてから設置します。
設置場所や部数はお店の希望に合わせます。</a:t>
            </a:r>
          </a:p>
        </p:txBody>
      </p:sp>
      <p:sp>
        <p:nvSpPr>
          <p:cNvPr id="10" name="Rounded Rectangle 9"/>
          <p:cNvSpPr/>
          <p:nvPr/>
        </p:nvSpPr>
        <p:spPr>
          <a:xfrm>
            <a:off x="6263640" y="1417320"/>
            <a:ext cx="5029200" cy="1828800"/>
          </a:xfrm>
          <a:prstGeom prst="roundRect">
            <a:avLst/>
          </a:prstGeom>
          <a:solidFill>
            <a:srgbClr val="FFFFFF"/>
          </a:solidFill>
          <a:ln>
            <a:solidFill>
              <a:srgbClr val="D6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490472"/>
            <a:ext cx="73152" cy="1682496"/>
          </a:xfrm>
          <a:prstGeom prst="rect">
            <a:avLst/>
          </a:prstGeom>
          <a:solidFill>
            <a:srgbClr val="4E9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600200"/>
            <a:ext cx="4617720" cy="411480"/>
          </a:xfrm>
          <a:prstGeom prst="rect">
            <a:avLst/>
          </a:prstGeom>
          <a:noFill/>
        </p:spPr>
        <p:txBody>
          <a:bodyPr wrap="square" lIns="54864" rIns="54864" tIns="54864" bIns="54864" anchor="t">
            <a:spAutoFit/>
          </a:bodyPr>
          <a:lstStyle/>
          <a:p>
            <a:pPr algn="l">
              <a:spcAft>
                <a:spcPts val="400"/>
              </a:spcAft>
            </a:pPr>
            <a:r>
              <a:rPr sz="1800" b="1">
                <a:solidFill>
                  <a:srgbClr val="204468"/>
                </a:solidFill>
                <a:latin typeface="Yu Gothic"/>
              </a:rPr>
              <a:t>設置後</a:t>
            </a:r>
          </a:p>
        </p:txBody>
      </p:sp>
      <p:sp>
        <p:nvSpPr>
          <p:cNvPr id="13" name="TextBox 12"/>
          <p:cNvSpPr txBox="1"/>
          <p:nvPr/>
        </p:nvSpPr>
        <p:spPr>
          <a:xfrm>
            <a:off x="6492240" y="2103120"/>
            <a:ext cx="4617720" cy="1005840"/>
          </a:xfrm>
          <a:prstGeom prst="rect">
            <a:avLst/>
          </a:prstGeom>
          <a:noFill/>
        </p:spPr>
        <p:txBody>
          <a:bodyPr wrap="square" lIns="54864" rIns="54864" tIns="54864" bIns="54864" anchor="t">
            <a:spAutoFit/>
          </a:bodyPr>
          <a:lstStyle/>
          <a:p>
            <a:pPr algn="l">
              <a:spcAft>
                <a:spcPts val="400"/>
              </a:spcAft>
            </a:pPr>
            <a:r>
              <a:rPr sz="1500" b="0">
                <a:solidFill>
                  <a:srgbClr val="2D3A45"/>
                </a:solidFill>
                <a:latin typeface="Yu Gothic"/>
              </a:rPr>
              <a:t>設置先・部数・日付を記録します。
補充や撤去も、事前に相談して対応します。</a:t>
            </a:r>
          </a:p>
        </p:txBody>
      </p:sp>
      <p:sp>
        <p:nvSpPr>
          <p:cNvPr id="14" name="Rounded Rectangle 13"/>
          <p:cNvSpPr/>
          <p:nvPr/>
        </p:nvSpPr>
        <p:spPr>
          <a:xfrm>
            <a:off x="822960" y="3566160"/>
            <a:ext cx="5029200" cy="1645920"/>
          </a:xfrm>
          <a:prstGeom prst="roundRect">
            <a:avLst/>
          </a:prstGeom>
          <a:solidFill>
            <a:srgbClr val="FFFFFF"/>
          </a:solidFill>
          <a:ln>
            <a:solidFill>
              <a:srgbClr val="D6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3639312"/>
            <a:ext cx="73152" cy="1499616"/>
          </a:xfrm>
          <a:prstGeom prst="rect">
            <a:avLst/>
          </a:prstGeom>
          <a:solidFill>
            <a:srgbClr val="EEB9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49039"/>
            <a:ext cx="4617720" cy="411480"/>
          </a:xfrm>
          <a:prstGeom prst="rect">
            <a:avLst/>
          </a:prstGeom>
          <a:noFill/>
        </p:spPr>
        <p:txBody>
          <a:bodyPr wrap="square" lIns="54864" rIns="54864" tIns="54864" bIns="54864" anchor="t">
            <a:spAutoFit/>
          </a:bodyPr>
          <a:lstStyle/>
          <a:p>
            <a:pPr algn="l">
              <a:spcAft>
                <a:spcPts val="400"/>
              </a:spcAft>
            </a:pPr>
            <a:r>
              <a:rPr sz="1800" b="1">
                <a:solidFill>
                  <a:srgbClr val="204468"/>
                </a:solidFill>
                <a:latin typeface="Yu Gothic"/>
              </a:rPr>
              <a:t>誠実な説明</a:t>
            </a:r>
          </a:p>
        </p:txBody>
      </p:sp>
      <p:sp>
        <p:nvSpPr>
          <p:cNvPr id="17" name="TextBox 16"/>
          <p:cNvSpPr txBox="1"/>
          <p:nvPr/>
        </p:nvSpPr>
        <p:spPr>
          <a:xfrm>
            <a:off x="1051560" y="4251960"/>
            <a:ext cx="4617720" cy="822960"/>
          </a:xfrm>
          <a:prstGeom prst="rect">
            <a:avLst/>
          </a:prstGeom>
          <a:noFill/>
        </p:spPr>
        <p:txBody>
          <a:bodyPr wrap="square" lIns="54864" rIns="54864" tIns="54864" bIns="54864" anchor="t">
            <a:spAutoFit/>
          </a:bodyPr>
          <a:lstStyle/>
          <a:p>
            <a:pPr algn="l">
              <a:spcAft>
                <a:spcPts val="400"/>
              </a:spcAft>
            </a:pPr>
            <a:r>
              <a:rPr sz="1500" b="0">
                <a:solidFill>
                  <a:srgbClr val="2D3A45"/>
                </a:solidFill>
                <a:latin typeface="Yu Gothic"/>
              </a:rPr>
              <a:t>効果を大きく見せたり、成果を約束したりしません。</a:t>
            </a:r>
          </a:p>
        </p:txBody>
      </p:sp>
      <p:sp>
        <p:nvSpPr>
          <p:cNvPr id="18" name="Rounded Rectangle 17"/>
          <p:cNvSpPr/>
          <p:nvPr/>
        </p:nvSpPr>
        <p:spPr>
          <a:xfrm>
            <a:off x="6263640" y="3566160"/>
            <a:ext cx="5029200" cy="1645920"/>
          </a:xfrm>
          <a:prstGeom prst="roundRect">
            <a:avLst/>
          </a:prstGeom>
          <a:solidFill>
            <a:srgbClr val="FFFFFF"/>
          </a:solidFill>
          <a:ln>
            <a:solidFill>
              <a:srgbClr val="D6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3639312"/>
            <a:ext cx="73152" cy="1499616"/>
          </a:xfrm>
          <a:prstGeom prst="rect">
            <a:avLst/>
          </a:prstGeom>
          <a:solidFill>
            <a:srgbClr val="4A9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3749039"/>
            <a:ext cx="4617720" cy="411480"/>
          </a:xfrm>
          <a:prstGeom prst="rect">
            <a:avLst/>
          </a:prstGeom>
          <a:noFill/>
        </p:spPr>
        <p:txBody>
          <a:bodyPr wrap="square" lIns="54864" rIns="54864" tIns="54864" bIns="54864" anchor="t">
            <a:spAutoFit/>
          </a:bodyPr>
          <a:lstStyle/>
          <a:p>
            <a:pPr algn="l">
              <a:spcAft>
                <a:spcPts val="400"/>
              </a:spcAft>
            </a:pPr>
            <a:r>
              <a:rPr sz="1800" b="1">
                <a:solidFill>
                  <a:srgbClr val="204468"/>
                </a:solidFill>
                <a:latin typeface="Yu Gothic"/>
              </a:rPr>
              <a:t>無理をしない</a:t>
            </a:r>
          </a:p>
        </p:txBody>
      </p:sp>
      <p:sp>
        <p:nvSpPr>
          <p:cNvPr id="21" name="TextBox 20"/>
          <p:cNvSpPr txBox="1"/>
          <p:nvPr/>
        </p:nvSpPr>
        <p:spPr>
          <a:xfrm>
            <a:off x="6492240" y="4251960"/>
            <a:ext cx="4617720" cy="822960"/>
          </a:xfrm>
          <a:prstGeom prst="rect">
            <a:avLst/>
          </a:prstGeom>
          <a:noFill/>
        </p:spPr>
        <p:txBody>
          <a:bodyPr wrap="square" lIns="54864" rIns="54864" tIns="54864" bIns="54864" anchor="t">
            <a:spAutoFit/>
          </a:bodyPr>
          <a:lstStyle/>
          <a:p>
            <a:pPr algn="l">
              <a:spcAft>
                <a:spcPts val="400"/>
              </a:spcAft>
            </a:pPr>
            <a:r>
              <a:rPr sz="1500" b="0">
                <a:solidFill>
                  <a:srgbClr val="2D3A45"/>
                </a:solidFill>
                <a:latin typeface="Yu Gothic"/>
              </a:rPr>
              <a:t>移動や対応できる範囲を確認し、無理な約束はしません。</a:t>
            </a:r>
          </a:p>
        </p:txBody>
      </p:sp>
      <p:sp>
        <p:nvSpPr>
          <p:cNvPr id="22" name="TextBox 21"/>
          <p:cNvSpPr txBox="1"/>
          <p:nvPr/>
        </p:nvSpPr>
        <p:spPr>
          <a:xfrm>
            <a:off x="868680" y="5715000"/>
            <a:ext cx="10515600" cy="320040"/>
          </a:xfrm>
          <a:prstGeom prst="rect">
            <a:avLst/>
          </a:prstGeom>
          <a:noFill/>
        </p:spPr>
        <p:txBody>
          <a:bodyPr wrap="square" lIns="54864" rIns="54864" tIns="54864" bIns="54864" anchor="t">
            <a:spAutoFit/>
          </a:bodyPr>
          <a:lstStyle/>
          <a:p>
            <a:pPr algn="l">
              <a:spcAft>
                <a:spcPts val="400"/>
              </a:spcAft>
            </a:pPr>
            <a:r>
              <a:rPr sz="1300" b="0">
                <a:solidFill>
                  <a:srgbClr val="647480"/>
                </a:solidFill>
                <a:latin typeface="Yu Gothic"/>
              </a:rPr>
              <a:t>※ 設置・補充の担当者と連絡先は、事業所と事前に確認します。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881360" cy="548640"/>
          </a:xfrm>
          <a:prstGeom prst="rect">
            <a:avLst/>
          </a:prstGeom>
          <a:noFill/>
        </p:spPr>
        <p:txBody>
          <a:bodyPr wrap="square" lIns="54864" rIns="54864" tIns="54864" bIns="54864" anchor="t">
            <a:spAutoFit/>
          </a:bodyPr>
          <a:lstStyle/>
          <a:p>
            <a:pPr algn="l">
              <a:spcAft>
                <a:spcPts val="400"/>
              </a:spcAft>
            </a:pPr>
            <a:r>
              <a:rPr sz="2600" b="1">
                <a:solidFill>
                  <a:srgbClr val="204468"/>
                </a:solidFill>
                <a:latin typeface="Yu Gothic"/>
              </a:rPr>
              <a:t>お店でのお願いの伝え方（口頭例）</a:t>
            </a:r>
          </a:p>
        </p:txBody>
      </p:sp>
      <p:sp>
        <p:nvSpPr>
          <p:cNvPr id="4" name="Rectangle 3"/>
          <p:cNvSpPr/>
          <p:nvPr/>
        </p:nvSpPr>
        <p:spPr>
          <a:xfrm>
            <a:off x="621792" y="960120"/>
            <a:ext cx="914400" cy="54864"/>
          </a:xfrm>
          <a:prstGeom prst="rect">
            <a:avLst/>
          </a:prstGeom>
          <a:solidFill>
            <a:srgbClr val="4E9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44200" y="6419088"/>
            <a:ext cx="822960" cy="228600"/>
          </a:xfrm>
          <a:prstGeom prst="rect">
            <a:avLst/>
          </a:prstGeom>
          <a:noFill/>
        </p:spPr>
        <p:txBody>
          <a:bodyPr wrap="square" lIns="54864" rIns="54864" tIns="54864" bIns="54864" anchor="t">
            <a:spAutoFit/>
          </a:bodyPr>
          <a:lstStyle/>
          <a:p>
            <a:pPr algn="r">
              <a:spcAft>
                <a:spcPts val="400"/>
              </a:spcAft>
            </a:pPr>
            <a:r>
              <a:rPr sz="1000" b="0">
                <a:solidFill>
                  <a:srgbClr val="647480"/>
                </a:solidFill>
                <a:latin typeface="Yu Gothic"/>
              </a:rPr>
              <a:t>06  /  08</a:t>
            </a:r>
          </a:p>
        </p:txBody>
      </p:sp>
      <p:sp>
        <p:nvSpPr>
          <p:cNvPr id="6" name="Rounded Rectangle 5"/>
          <p:cNvSpPr/>
          <p:nvPr/>
        </p:nvSpPr>
        <p:spPr>
          <a:xfrm>
            <a:off x="822960" y="1325880"/>
            <a:ext cx="10515600" cy="4389120"/>
          </a:xfrm>
          <a:prstGeom prst="roundRect">
            <a:avLst/>
          </a:prstGeom>
          <a:solidFill>
            <a:srgbClr val="FFFFFF"/>
          </a:solidFill>
          <a:ln>
            <a:solidFill>
              <a:srgbClr val="D6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399032"/>
            <a:ext cx="73152" cy="4242816"/>
          </a:xfrm>
          <a:prstGeom prst="rect">
            <a:avLst/>
          </a:prstGeom>
          <a:solidFill>
            <a:srgbClr val="4E9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508760"/>
            <a:ext cx="10104120" cy="411480"/>
          </a:xfrm>
          <a:prstGeom prst="rect">
            <a:avLst/>
          </a:prstGeom>
          <a:noFill/>
        </p:spPr>
        <p:txBody>
          <a:bodyPr wrap="square" lIns="54864" rIns="54864" tIns="54864" bIns="54864" anchor="t">
            <a:spAutoFit/>
          </a:bodyPr>
          <a:lstStyle/>
          <a:p>
            <a:pPr algn="l">
              <a:spcAft>
                <a:spcPts val="400"/>
              </a:spcAft>
            </a:pPr>
            <a:r>
              <a:rPr sz="1800" b="1">
                <a:solidFill>
                  <a:srgbClr val="204468"/>
                </a:solidFill>
                <a:latin typeface="Yu Gothic"/>
              </a:rPr>
              <a:t>そのまま読める短い説明</a:t>
            </a:r>
          </a:p>
        </p:txBody>
      </p:sp>
      <p:sp>
        <p:nvSpPr>
          <p:cNvPr id="9" name="TextBox 8"/>
          <p:cNvSpPr txBox="1"/>
          <p:nvPr/>
        </p:nvSpPr>
        <p:spPr>
          <a:xfrm>
            <a:off x="1051560" y="2011680"/>
            <a:ext cx="10104120" cy="3566160"/>
          </a:xfrm>
          <a:prstGeom prst="rect">
            <a:avLst/>
          </a:prstGeom>
          <a:noFill/>
        </p:spPr>
        <p:txBody>
          <a:bodyPr wrap="square" lIns="54864" rIns="54864" tIns="54864" bIns="54864" anchor="t">
            <a:spAutoFit/>
          </a:bodyPr>
          <a:lstStyle/>
          <a:p>
            <a:pPr algn="l">
              <a:spcAft>
                <a:spcPts val="400"/>
              </a:spcAft>
            </a:pPr>
            <a:r>
              <a:rPr sz="1500" b="0">
                <a:solidFill>
                  <a:srgbClr val="2D3A45"/>
                </a:solidFill>
                <a:latin typeface="Yu Gothic"/>
              </a:rPr>
              <a:t>突然すみません。
地域の就労継続支援B型事業所を応援していて、パンフレットを置いていただけるお店を探しています。
もしご迷惑でなければ、お店の邪魔にならない場所に数部だけ置かせていただけないでしょうか。
費用はかかりませんし、お客様への説明も必要ありません。
難しければ、遠慮なくお断りください。ご検討いただけるとうれしいです。</a:t>
            </a:r>
          </a:p>
        </p:txBody>
      </p:sp>
      <p:sp>
        <p:nvSpPr>
          <p:cNvPr id="10" name="TextBox 9"/>
          <p:cNvSpPr txBox="1"/>
          <p:nvPr/>
        </p:nvSpPr>
        <p:spPr>
          <a:xfrm>
            <a:off x="868680" y="5897880"/>
            <a:ext cx="10424160" cy="320040"/>
          </a:xfrm>
          <a:prstGeom prst="rect">
            <a:avLst/>
          </a:prstGeom>
          <a:noFill/>
        </p:spPr>
        <p:txBody>
          <a:bodyPr wrap="square" lIns="54864" rIns="54864" tIns="54864" bIns="54864" anchor="t">
            <a:spAutoFit/>
          </a:bodyPr>
          <a:lstStyle/>
          <a:p>
            <a:pPr algn="l">
              <a:spcAft>
                <a:spcPts val="400"/>
              </a:spcAft>
            </a:pPr>
            <a:r>
              <a:rPr sz="1400" b="1">
                <a:solidFill>
                  <a:srgbClr val="204468"/>
                </a:solidFill>
                <a:latin typeface="Yu Gothic"/>
              </a:rPr>
              <a:t>ポイント：短く伝える／その場で返事を迫らない／断られてもお礼を伝える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881360" cy="548640"/>
          </a:xfrm>
          <a:prstGeom prst="rect">
            <a:avLst/>
          </a:prstGeom>
          <a:noFill/>
        </p:spPr>
        <p:txBody>
          <a:bodyPr wrap="square" lIns="54864" rIns="54864" tIns="54864" bIns="54864" anchor="t">
            <a:spAutoFit/>
          </a:bodyPr>
          <a:lstStyle/>
          <a:p>
            <a:pPr algn="l">
              <a:spcAft>
                <a:spcPts val="400"/>
              </a:spcAft>
            </a:pPr>
            <a:r>
              <a:rPr sz="2600" b="1">
                <a:solidFill>
                  <a:srgbClr val="204468"/>
                </a:solidFill>
                <a:latin typeface="Yu Gothic"/>
              </a:rPr>
              <a:t>まずは1か月、少ない店舗で試す</a:t>
            </a:r>
          </a:p>
        </p:txBody>
      </p:sp>
      <p:sp>
        <p:nvSpPr>
          <p:cNvPr id="4" name="Rectangle 3"/>
          <p:cNvSpPr/>
          <p:nvPr/>
        </p:nvSpPr>
        <p:spPr>
          <a:xfrm>
            <a:off x="621792" y="960120"/>
            <a:ext cx="914400" cy="54864"/>
          </a:xfrm>
          <a:prstGeom prst="rect">
            <a:avLst/>
          </a:prstGeom>
          <a:solidFill>
            <a:srgbClr val="4E9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44200" y="6419088"/>
            <a:ext cx="822960" cy="228600"/>
          </a:xfrm>
          <a:prstGeom prst="rect">
            <a:avLst/>
          </a:prstGeom>
          <a:noFill/>
        </p:spPr>
        <p:txBody>
          <a:bodyPr wrap="square" lIns="54864" rIns="54864" tIns="54864" bIns="54864" anchor="t">
            <a:spAutoFit/>
          </a:bodyPr>
          <a:lstStyle/>
          <a:p>
            <a:pPr algn="r">
              <a:spcAft>
                <a:spcPts val="400"/>
              </a:spcAft>
            </a:pPr>
            <a:r>
              <a:rPr sz="1000" b="0">
                <a:solidFill>
                  <a:srgbClr val="647480"/>
                </a:solidFill>
                <a:latin typeface="Yu Gothic"/>
              </a:rPr>
              <a:t>07  /  08</a:t>
            </a:r>
          </a:p>
        </p:txBody>
      </p:sp>
      <p:sp>
        <p:nvSpPr>
          <p:cNvPr id="6" name="Oval 5"/>
          <p:cNvSpPr/>
          <p:nvPr/>
        </p:nvSpPr>
        <p:spPr>
          <a:xfrm>
            <a:off x="1508760" y="1508760"/>
            <a:ext cx="685800" cy="685800"/>
          </a:xfrm>
          <a:prstGeom prst="ellipse">
            <a:avLst/>
          </a:prstGeom>
          <a:solidFill>
            <a:srgbClr val="4A9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1655064"/>
            <a:ext cx="685800" cy="320040"/>
          </a:xfrm>
          <a:prstGeom prst="rect">
            <a:avLst/>
          </a:prstGeom>
          <a:noFill/>
        </p:spPr>
        <p:txBody>
          <a:bodyPr wrap="square" lIns="54864" rIns="54864" tIns="54864" bIns="54864" anchor="t">
            <a:spAutoFit/>
          </a:bodyPr>
          <a:lstStyle/>
          <a:p>
            <a:pPr algn="ctr">
              <a:spcAft>
                <a:spcPts val="400"/>
              </a:spcAft>
            </a:pPr>
            <a:r>
              <a:rPr sz="1900" b="1">
                <a:solidFill>
                  <a:srgbClr val="FFFFFF"/>
                </a:solidFill>
                <a:latin typeface="Yu Gothic"/>
              </a:rPr>
              <a:t>1</a:t>
            </a:r>
          </a:p>
        </p:txBody>
      </p:sp>
      <p:sp>
        <p:nvSpPr>
          <p:cNvPr id="8" name="TextBox 7"/>
          <p:cNvSpPr txBox="1"/>
          <p:nvPr/>
        </p:nvSpPr>
        <p:spPr>
          <a:xfrm>
            <a:off x="731519" y="2423160"/>
            <a:ext cx="2240280" cy="411480"/>
          </a:xfrm>
          <a:prstGeom prst="rect">
            <a:avLst/>
          </a:prstGeom>
          <a:noFill/>
        </p:spPr>
        <p:txBody>
          <a:bodyPr wrap="square" lIns="54864" rIns="54864" tIns="54864" bIns="54864" anchor="t">
            <a:spAutoFit/>
          </a:bodyPr>
          <a:lstStyle/>
          <a:p>
            <a:pPr algn="ctr">
              <a:spcAft>
                <a:spcPts val="400"/>
              </a:spcAft>
            </a:pPr>
            <a:r>
              <a:rPr sz="1800" b="1">
                <a:solidFill>
                  <a:srgbClr val="204468"/>
                </a:solidFill>
                <a:latin typeface="Yu Gothic"/>
              </a:rPr>
              <a:t>候補を選ぶ</a:t>
            </a:r>
          </a:p>
        </p:txBody>
      </p:sp>
      <p:sp>
        <p:nvSpPr>
          <p:cNvPr id="9" name="TextBox 8"/>
          <p:cNvSpPr txBox="1"/>
          <p:nvPr/>
        </p:nvSpPr>
        <p:spPr>
          <a:xfrm>
            <a:off x="685800" y="2971800"/>
            <a:ext cx="2377440" cy="1097280"/>
          </a:xfrm>
          <a:prstGeom prst="rect">
            <a:avLst/>
          </a:prstGeom>
          <a:noFill/>
        </p:spPr>
        <p:txBody>
          <a:bodyPr wrap="square" lIns="54864" rIns="54864" tIns="54864" bIns="54864" anchor="t">
            <a:spAutoFit/>
          </a:bodyPr>
          <a:lstStyle/>
          <a:p>
            <a:pPr algn="ctr">
              <a:spcAft>
                <a:spcPts val="400"/>
              </a:spcAft>
            </a:pPr>
            <a:r>
              <a:rPr sz="1400" b="0">
                <a:solidFill>
                  <a:srgbClr val="2D3A45"/>
                </a:solidFill>
                <a:latin typeface="Yu Gothic"/>
              </a:rPr>
              <a:t>地域の個人店から、相性のよさそうな店を選ぶ</a:t>
            </a:r>
          </a:p>
        </p:txBody>
      </p:sp>
      <p:sp>
        <p:nvSpPr>
          <p:cNvPr id="10" name="TextBox 9"/>
          <p:cNvSpPr txBox="1"/>
          <p:nvPr/>
        </p:nvSpPr>
        <p:spPr>
          <a:xfrm>
            <a:off x="2971800" y="1664208"/>
            <a:ext cx="457200" cy="365760"/>
          </a:xfrm>
          <a:prstGeom prst="rect">
            <a:avLst/>
          </a:prstGeom>
          <a:noFill/>
        </p:spPr>
        <p:txBody>
          <a:bodyPr wrap="square" lIns="54864" rIns="54864" tIns="54864" bIns="54864" anchor="t">
            <a:spAutoFit/>
          </a:bodyPr>
          <a:lstStyle/>
          <a:p>
            <a:pPr algn="ctr">
              <a:spcAft>
                <a:spcPts val="400"/>
              </a:spcAft>
            </a:pPr>
            <a:r>
              <a:rPr sz="2200" b="1">
                <a:solidFill>
                  <a:srgbClr val="647480"/>
                </a:solidFill>
                <a:latin typeface="Yu Gothic"/>
              </a:rPr>
              <a:t>→</a:t>
            </a:r>
          </a:p>
        </p:txBody>
      </p:sp>
      <p:sp>
        <p:nvSpPr>
          <p:cNvPr id="11" name="Oval 10"/>
          <p:cNvSpPr/>
          <p:nvPr/>
        </p:nvSpPr>
        <p:spPr>
          <a:xfrm>
            <a:off x="4389120" y="1508760"/>
            <a:ext cx="685800" cy="685800"/>
          </a:xfrm>
          <a:prstGeom prst="ellipse">
            <a:avLst/>
          </a:prstGeom>
          <a:solidFill>
            <a:srgbClr val="4E9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655064"/>
            <a:ext cx="685800" cy="320040"/>
          </a:xfrm>
          <a:prstGeom prst="rect">
            <a:avLst/>
          </a:prstGeom>
          <a:noFill/>
        </p:spPr>
        <p:txBody>
          <a:bodyPr wrap="square" lIns="54864" rIns="54864" tIns="54864" bIns="54864" anchor="t">
            <a:spAutoFit/>
          </a:bodyPr>
          <a:lstStyle/>
          <a:p>
            <a:pPr algn="ctr">
              <a:spcAft>
                <a:spcPts val="400"/>
              </a:spcAft>
            </a:pPr>
            <a:r>
              <a:rPr sz="1900" b="1">
                <a:solidFill>
                  <a:srgbClr val="FFFFFF"/>
                </a:solidFill>
                <a:latin typeface="Yu Gothic"/>
              </a:rPr>
              <a:t>2</a:t>
            </a:r>
          </a:p>
        </p:txBody>
      </p:sp>
      <p:sp>
        <p:nvSpPr>
          <p:cNvPr id="13" name="TextBox 12"/>
          <p:cNvSpPr txBox="1"/>
          <p:nvPr/>
        </p:nvSpPr>
        <p:spPr>
          <a:xfrm>
            <a:off x="3611879" y="2423160"/>
            <a:ext cx="2240280" cy="411480"/>
          </a:xfrm>
          <a:prstGeom prst="rect">
            <a:avLst/>
          </a:prstGeom>
          <a:noFill/>
        </p:spPr>
        <p:txBody>
          <a:bodyPr wrap="square" lIns="54864" rIns="54864" tIns="54864" bIns="54864" anchor="t">
            <a:spAutoFit/>
          </a:bodyPr>
          <a:lstStyle/>
          <a:p>
            <a:pPr algn="ctr">
              <a:spcAft>
                <a:spcPts val="400"/>
              </a:spcAft>
            </a:pPr>
            <a:r>
              <a:rPr sz="1800" b="1">
                <a:solidFill>
                  <a:srgbClr val="204468"/>
                </a:solidFill>
                <a:latin typeface="Yu Gothic"/>
              </a:rPr>
              <a:t>許可を得る</a:t>
            </a:r>
          </a:p>
        </p:txBody>
      </p:sp>
      <p:sp>
        <p:nvSpPr>
          <p:cNvPr id="14" name="TextBox 13"/>
          <p:cNvSpPr txBox="1"/>
          <p:nvPr/>
        </p:nvSpPr>
        <p:spPr>
          <a:xfrm>
            <a:off x="3566159" y="2971800"/>
            <a:ext cx="2377440" cy="1097280"/>
          </a:xfrm>
          <a:prstGeom prst="rect">
            <a:avLst/>
          </a:prstGeom>
          <a:noFill/>
        </p:spPr>
        <p:txBody>
          <a:bodyPr wrap="square" lIns="54864" rIns="54864" tIns="54864" bIns="54864" anchor="t">
            <a:spAutoFit/>
          </a:bodyPr>
          <a:lstStyle/>
          <a:p>
            <a:pPr algn="ctr">
              <a:spcAft>
                <a:spcPts val="400"/>
              </a:spcAft>
            </a:pPr>
            <a:r>
              <a:rPr sz="1400" b="0">
                <a:solidFill>
                  <a:srgbClr val="2D3A45"/>
                </a:solidFill>
                <a:latin typeface="Yu Gothic"/>
              </a:rPr>
              <a:t>目的・無料・少部数・撤去可能を説明する</a:t>
            </a:r>
          </a:p>
        </p:txBody>
      </p:sp>
      <p:sp>
        <p:nvSpPr>
          <p:cNvPr id="15" name="TextBox 14"/>
          <p:cNvSpPr txBox="1"/>
          <p:nvPr/>
        </p:nvSpPr>
        <p:spPr>
          <a:xfrm>
            <a:off x="5852159" y="1664208"/>
            <a:ext cx="457200" cy="365760"/>
          </a:xfrm>
          <a:prstGeom prst="rect">
            <a:avLst/>
          </a:prstGeom>
          <a:noFill/>
        </p:spPr>
        <p:txBody>
          <a:bodyPr wrap="square" lIns="54864" rIns="54864" tIns="54864" bIns="54864" anchor="t">
            <a:spAutoFit/>
          </a:bodyPr>
          <a:lstStyle/>
          <a:p>
            <a:pPr algn="ctr">
              <a:spcAft>
                <a:spcPts val="400"/>
              </a:spcAft>
            </a:pPr>
            <a:r>
              <a:rPr sz="2200" b="1">
                <a:solidFill>
                  <a:srgbClr val="647480"/>
                </a:solidFill>
                <a:latin typeface="Yu Gothic"/>
              </a:rPr>
              <a:t>→</a:t>
            </a:r>
          </a:p>
        </p:txBody>
      </p:sp>
      <p:sp>
        <p:nvSpPr>
          <p:cNvPr id="16" name="Oval 15"/>
          <p:cNvSpPr/>
          <p:nvPr/>
        </p:nvSpPr>
        <p:spPr>
          <a:xfrm>
            <a:off x="7269480" y="1508760"/>
            <a:ext cx="685800" cy="685800"/>
          </a:xfrm>
          <a:prstGeom prst="ellipse">
            <a:avLst/>
          </a:prstGeom>
          <a:solidFill>
            <a:srgbClr val="EEB9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69480" y="1655064"/>
            <a:ext cx="685800" cy="320040"/>
          </a:xfrm>
          <a:prstGeom prst="rect">
            <a:avLst/>
          </a:prstGeom>
          <a:noFill/>
        </p:spPr>
        <p:txBody>
          <a:bodyPr wrap="square" lIns="54864" rIns="54864" tIns="54864" bIns="54864" anchor="t">
            <a:spAutoFit/>
          </a:bodyPr>
          <a:lstStyle/>
          <a:p>
            <a:pPr algn="ctr">
              <a:spcAft>
                <a:spcPts val="400"/>
              </a:spcAft>
            </a:pPr>
            <a:r>
              <a:rPr sz="1900" b="1">
                <a:solidFill>
                  <a:srgbClr val="FFFFFF"/>
                </a:solidFill>
                <a:latin typeface="Yu Gothic"/>
              </a:rPr>
              <a:t>3</a:t>
            </a:r>
          </a:p>
        </p:txBody>
      </p:sp>
      <p:sp>
        <p:nvSpPr>
          <p:cNvPr id="18" name="TextBox 17"/>
          <p:cNvSpPr txBox="1"/>
          <p:nvPr/>
        </p:nvSpPr>
        <p:spPr>
          <a:xfrm>
            <a:off x="6492240" y="2423160"/>
            <a:ext cx="2240280" cy="411480"/>
          </a:xfrm>
          <a:prstGeom prst="rect">
            <a:avLst/>
          </a:prstGeom>
          <a:noFill/>
        </p:spPr>
        <p:txBody>
          <a:bodyPr wrap="square" lIns="54864" rIns="54864" tIns="54864" bIns="54864" anchor="t">
            <a:spAutoFit/>
          </a:bodyPr>
          <a:lstStyle/>
          <a:p>
            <a:pPr algn="ctr">
              <a:spcAft>
                <a:spcPts val="400"/>
              </a:spcAft>
            </a:pPr>
            <a:r>
              <a:rPr sz="1800" b="1">
                <a:solidFill>
                  <a:srgbClr val="204468"/>
                </a:solidFill>
                <a:latin typeface="Yu Gothic"/>
              </a:rPr>
              <a:t>記録する</a:t>
            </a:r>
          </a:p>
        </p:txBody>
      </p:sp>
      <p:sp>
        <p:nvSpPr>
          <p:cNvPr id="19" name="TextBox 18"/>
          <p:cNvSpPr txBox="1"/>
          <p:nvPr/>
        </p:nvSpPr>
        <p:spPr>
          <a:xfrm>
            <a:off x="6446520" y="2971800"/>
            <a:ext cx="2377440" cy="1097280"/>
          </a:xfrm>
          <a:prstGeom prst="rect">
            <a:avLst/>
          </a:prstGeom>
          <a:noFill/>
        </p:spPr>
        <p:txBody>
          <a:bodyPr wrap="square" lIns="54864" rIns="54864" tIns="54864" bIns="54864" anchor="t">
            <a:spAutoFit/>
          </a:bodyPr>
          <a:lstStyle/>
          <a:p>
            <a:pPr algn="ctr">
              <a:spcAft>
                <a:spcPts val="400"/>
              </a:spcAft>
            </a:pPr>
            <a:r>
              <a:rPr sz="1400" b="0">
                <a:solidFill>
                  <a:srgbClr val="2D3A45"/>
                </a:solidFill>
                <a:latin typeface="Yu Gothic"/>
              </a:rPr>
              <a:t>訪問日、回答、設置部数、補充・撤去を記録</a:t>
            </a:r>
          </a:p>
        </p:txBody>
      </p:sp>
      <p:sp>
        <p:nvSpPr>
          <p:cNvPr id="20" name="TextBox 19"/>
          <p:cNvSpPr txBox="1"/>
          <p:nvPr/>
        </p:nvSpPr>
        <p:spPr>
          <a:xfrm>
            <a:off x="8732520" y="1664208"/>
            <a:ext cx="457200" cy="365760"/>
          </a:xfrm>
          <a:prstGeom prst="rect">
            <a:avLst/>
          </a:prstGeom>
          <a:noFill/>
        </p:spPr>
        <p:txBody>
          <a:bodyPr wrap="square" lIns="54864" rIns="54864" tIns="54864" bIns="54864" anchor="t">
            <a:spAutoFit/>
          </a:bodyPr>
          <a:lstStyle/>
          <a:p>
            <a:pPr algn="ctr">
              <a:spcAft>
                <a:spcPts val="400"/>
              </a:spcAft>
            </a:pPr>
            <a:r>
              <a:rPr sz="2200" b="1">
                <a:solidFill>
                  <a:srgbClr val="647480"/>
                </a:solidFill>
                <a:latin typeface="Yu Gothic"/>
              </a:rPr>
              <a:t>→</a:t>
            </a:r>
          </a:p>
        </p:txBody>
      </p:sp>
      <p:sp>
        <p:nvSpPr>
          <p:cNvPr id="21" name="Oval 20"/>
          <p:cNvSpPr/>
          <p:nvPr/>
        </p:nvSpPr>
        <p:spPr>
          <a:xfrm>
            <a:off x="10149839" y="1508760"/>
            <a:ext cx="685800" cy="685800"/>
          </a:xfrm>
          <a:prstGeom prst="ellipse">
            <a:avLst/>
          </a:prstGeom>
          <a:solidFill>
            <a:srgbClr val="2044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49839" y="1655064"/>
            <a:ext cx="685800" cy="320040"/>
          </a:xfrm>
          <a:prstGeom prst="rect">
            <a:avLst/>
          </a:prstGeom>
          <a:noFill/>
        </p:spPr>
        <p:txBody>
          <a:bodyPr wrap="square" lIns="54864" rIns="54864" tIns="54864" bIns="54864" anchor="t">
            <a:spAutoFit/>
          </a:bodyPr>
          <a:lstStyle/>
          <a:p>
            <a:pPr algn="ctr">
              <a:spcAft>
                <a:spcPts val="400"/>
              </a:spcAft>
            </a:pPr>
            <a:r>
              <a:rPr sz="1900" b="1">
                <a:solidFill>
                  <a:srgbClr val="FFFFFF"/>
                </a:solidFill>
                <a:latin typeface="Yu Gothic"/>
              </a:rPr>
              <a:t>4</a:t>
            </a:r>
          </a:p>
        </p:txBody>
      </p:sp>
      <p:sp>
        <p:nvSpPr>
          <p:cNvPr id="23" name="TextBox 22"/>
          <p:cNvSpPr txBox="1"/>
          <p:nvPr/>
        </p:nvSpPr>
        <p:spPr>
          <a:xfrm>
            <a:off x="9372599" y="2423160"/>
            <a:ext cx="2240280" cy="411480"/>
          </a:xfrm>
          <a:prstGeom prst="rect">
            <a:avLst/>
          </a:prstGeom>
          <a:noFill/>
        </p:spPr>
        <p:txBody>
          <a:bodyPr wrap="square" lIns="54864" rIns="54864" tIns="54864" bIns="54864" anchor="t">
            <a:spAutoFit/>
          </a:bodyPr>
          <a:lstStyle/>
          <a:p>
            <a:pPr algn="ctr">
              <a:spcAft>
                <a:spcPts val="400"/>
              </a:spcAft>
            </a:pPr>
            <a:r>
              <a:rPr sz="1800" b="1">
                <a:solidFill>
                  <a:srgbClr val="204468"/>
                </a:solidFill>
                <a:latin typeface="Yu Gothic"/>
              </a:rPr>
              <a:t>振り返る</a:t>
            </a:r>
          </a:p>
        </p:txBody>
      </p:sp>
      <p:sp>
        <p:nvSpPr>
          <p:cNvPr id="24" name="TextBox 23"/>
          <p:cNvSpPr txBox="1"/>
          <p:nvPr/>
        </p:nvSpPr>
        <p:spPr>
          <a:xfrm>
            <a:off x="9326880" y="2971800"/>
            <a:ext cx="2377440" cy="1097280"/>
          </a:xfrm>
          <a:prstGeom prst="rect">
            <a:avLst/>
          </a:prstGeom>
          <a:noFill/>
        </p:spPr>
        <p:txBody>
          <a:bodyPr wrap="square" lIns="54864" rIns="54864" tIns="54864" bIns="54864" anchor="t">
            <a:spAutoFit/>
          </a:bodyPr>
          <a:lstStyle/>
          <a:p>
            <a:pPr algn="ctr">
              <a:spcAft>
                <a:spcPts val="400"/>
              </a:spcAft>
            </a:pPr>
            <a:r>
              <a:rPr sz="1400" b="0">
                <a:solidFill>
                  <a:srgbClr val="2D3A45"/>
                </a:solidFill>
                <a:latin typeface="Yu Gothic"/>
              </a:rPr>
              <a:t>お店の負担と反応を確認し、継続を相談</a:t>
            </a:r>
          </a:p>
        </p:txBody>
      </p:sp>
      <p:sp>
        <p:nvSpPr>
          <p:cNvPr id="25" name="Rounded Rectangle 24"/>
          <p:cNvSpPr/>
          <p:nvPr/>
        </p:nvSpPr>
        <p:spPr>
          <a:xfrm>
            <a:off x="914400" y="4709160"/>
            <a:ext cx="10241280" cy="914400"/>
          </a:xfrm>
          <a:prstGeom prst="roundRect">
            <a:avLst/>
          </a:prstGeom>
          <a:solidFill>
            <a:srgbClr val="FFFFFF"/>
          </a:solidFill>
          <a:ln>
            <a:solidFill>
              <a:srgbClr val="D6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4400" y="4782312"/>
            <a:ext cx="73152" cy="768096"/>
          </a:xfrm>
          <a:prstGeom prst="rect">
            <a:avLst/>
          </a:prstGeom>
          <a:solidFill>
            <a:srgbClr val="4E9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43000" y="4892040"/>
            <a:ext cx="9829800" cy="411480"/>
          </a:xfrm>
          <a:prstGeom prst="rect">
            <a:avLst/>
          </a:prstGeom>
          <a:noFill/>
        </p:spPr>
        <p:txBody>
          <a:bodyPr wrap="square" lIns="54864" rIns="54864" tIns="54864" bIns="54864" anchor="t">
            <a:spAutoFit/>
          </a:bodyPr>
          <a:lstStyle/>
          <a:p>
            <a:pPr algn="l">
              <a:spcAft>
                <a:spcPts val="400"/>
              </a:spcAft>
            </a:pPr>
            <a:r>
              <a:rPr sz="1800" b="1">
                <a:solidFill>
                  <a:srgbClr val="204468"/>
                </a:solidFill>
                <a:latin typeface="Yu Gothic"/>
              </a:rPr>
              <a:t>確認する数字</a:t>
            </a:r>
          </a:p>
        </p:txBody>
      </p:sp>
      <p:sp>
        <p:nvSpPr>
          <p:cNvPr id="28" name="TextBox 27"/>
          <p:cNvSpPr txBox="1"/>
          <p:nvPr/>
        </p:nvSpPr>
        <p:spPr>
          <a:xfrm>
            <a:off x="1143000" y="5394960"/>
            <a:ext cx="9829800" cy="91439"/>
          </a:xfrm>
          <a:prstGeom prst="rect">
            <a:avLst/>
          </a:prstGeom>
          <a:noFill/>
        </p:spPr>
        <p:txBody>
          <a:bodyPr wrap="square" lIns="54864" rIns="54864" tIns="54864" bIns="54864" anchor="t">
            <a:spAutoFit/>
          </a:bodyPr>
          <a:lstStyle/>
          <a:p>
            <a:pPr algn="l">
              <a:spcAft>
                <a:spcPts val="400"/>
              </a:spcAft>
            </a:pPr>
            <a:r>
              <a:rPr sz="1500" b="0">
                <a:solidFill>
                  <a:srgbClr val="2D3A45"/>
                </a:solidFill>
                <a:latin typeface="Yu Gothic"/>
              </a:rPr>
              <a:t>声をかけた店舗数／設置できた店舗数／設置部数／問い合わせ件数（確認できた分のみ）</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914400"/>
            <a:ext cx="8961120" cy="1280160"/>
          </a:xfrm>
          <a:prstGeom prst="rect">
            <a:avLst/>
          </a:prstGeom>
          <a:noFill/>
        </p:spPr>
        <p:txBody>
          <a:bodyPr wrap="square" lIns="54864" rIns="54864" tIns="54864" bIns="54864" anchor="t">
            <a:spAutoFit/>
          </a:bodyPr>
          <a:lstStyle/>
          <a:p>
            <a:pPr algn="l">
              <a:spcAft>
                <a:spcPts val="400"/>
              </a:spcAft>
            </a:pPr>
            <a:r>
              <a:rPr sz="3200" b="1">
                <a:solidFill>
                  <a:srgbClr val="204468"/>
                </a:solidFill>
                <a:latin typeface="Yu Gothic"/>
              </a:rPr>
              <a:t>地域でできることを、
一緒に少しずつ。</a:t>
            </a:r>
          </a:p>
        </p:txBody>
      </p:sp>
      <p:sp>
        <p:nvSpPr>
          <p:cNvPr id="4" name="TextBox 3"/>
          <p:cNvSpPr txBox="1"/>
          <p:nvPr/>
        </p:nvSpPr>
        <p:spPr>
          <a:xfrm>
            <a:off x="868680" y="2743200"/>
            <a:ext cx="9692640" cy="822960"/>
          </a:xfrm>
          <a:prstGeom prst="rect">
            <a:avLst/>
          </a:prstGeom>
          <a:noFill/>
        </p:spPr>
        <p:txBody>
          <a:bodyPr wrap="square" lIns="54864" rIns="54864" tIns="54864" bIns="54864" anchor="t">
            <a:spAutoFit/>
          </a:bodyPr>
          <a:lstStyle/>
          <a:p>
            <a:pPr algn="l">
              <a:spcAft>
                <a:spcPts val="400"/>
              </a:spcAft>
            </a:pPr>
            <a:r>
              <a:rPr sz="2200" b="1">
                <a:solidFill>
                  <a:srgbClr val="4A90C4"/>
                </a:solidFill>
                <a:latin typeface="Yu Gothic"/>
              </a:rPr>
              <a:t>パンフレットの設置にご協力いただけるか、
まずはご相談させてください。</a:t>
            </a:r>
          </a:p>
        </p:txBody>
      </p:sp>
      <p:sp>
        <p:nvSpPr>
          <p:cNvPr id="5" name="Rounded Rectangle 4"/>
          <p:cNvSpPr/>
          <p:nvPr/>
        </p:nvSpPr>
        <p:spPr>
          <a:xfrm>
            <a:off x="868680" y="4069080"/>
            <a:ext cx="7132320" cy="1143000"/>
          </a:xfrm>
          <a:prstGeom prst="roundRect">
            <a:avLst/>
          </a:prstGeom>
          <a:solidFill>
            <a:srgbClr val="FFFFFF"/>
          </a:solidFill>
          <a:ln>
            <a:solidFill>
              <a:srgbClr val="D6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4142232"/>
            <a:ext cx="73152" cy="996696"/>
          </a:xfrm>
          <a:prstGeom prst="rect">
            <a:avLst/>
          </a:prstGeom>
          <a:solidFill>
            <a:srgbClr val="4E9D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4251960"/>
            <a:ext cx="6720840" cy="411480"/>
          </a:xfrm>
          <a:prstGeom prst="rect">
            <a:avLst/>
          </a:prstGeom>
          <a:noFill/>
        </p:spPr>
        <p:txBody>
          <a:bodyPr wrap="square" lIns="54864" rIns="54864" tIns="54864" bIns="54864" anchor="t">
            <a:spAutoFit/>
          </a:bodyPr>
          <a:lstStyle/>
          <a:p>
            <a:pPr algn="l">
              <a:spcAft>
                <a:spcPts val="400"/>
              </a:spcAft>
            </a:pPr>
            <a:r>
              <a:rPr sz="1800" b="1">
                <a:solidFill>
                  <a:srgbClr val="204468"/>
                </a:solidFill>
                <a:latin typeface="Yu Gothic"/>
              </a:rPr>
              <a:t>お問い合わせ先</a:t>
            </a:r>
          </a:p>
        </p:txBody>
      </p:sp>
      <p:sp>
        <p:nvSpPr>
          <p:cNvPr id="8" name="TextBox 7"/>
          <p:cNvSpPr txBox="1"/>
          <p:nvPr/>
        </p:nvSpPr>
        <p:spPr>
          <a:xfrm>
            <a:off x="1097280" y="4754880"/>
            <a:ext cx="6720840" cy="320040"/>
          </a:xfrm>
          <a:prstGeom prst="rect">
            <a:avLst/>
          </a:prstGeom>
          <a:noFill/>
        </p:spPr>
        <p:txBody>
          <a:bodyPr wrap="square" lIns="54864" rIns="54864" tIns="54864" bIns="54864" anchor="t">
            <a:spAutoFit/>
          </a:bodyPr>
          <a:lstStyle/>
          <a:p>
            <a:pPr algn="l">
              <a:spcAft>
                <a:spcPts val="400"/>
              </a:spcAft>
            </a:pPr>
            <a:r>
              <a:rPr sz="1500" b="0">
                <a:solidFill>
                  <a:srgbClr val="2D3A45"/>
                </a:solidFill>
                <a:latin typeface="Yu Gothic"/>
              </a:rPr>
              <a:t>事業所名：［　　　　　　　　　］
担当者：［　　　　　　　　　　］　連絡先：［　　　　　　　　　］</a:t>
            </a:r>
          </a:p>
        </p:txBody>
      </p:sp>
      <p:sp>
        <p:nvSpPr>
          <p:cNvPr id="9" name="TextBox 8"/>
          <p:cNvSpPr txBox="1"/>
          <p:nvPr/>
        </p:nvSpPr>
        <p:spPr>
          <a:xfrm>
            <a:off x="896112" y="5806440"/>
            <a:ext cx="7772400" cy="411480"/>
          </a:xfrm>
          <a:prstGeom prst="rect">
            <a:avLst/>
          </a:prstGeom>
          <a:noFill/>
        </p:spPr>
        <p:txBody>
          <a:bodyPr wrap="square" lIns="54864" rIns="54864" tIns="54864" bIns="54864" anchor="t">
            <a:spAutoFit/>
          </a:bodyPr>
          <a:lstStyle/>
          <a:p>
            <a:pPr algn="l">
              <a:spcAft>
                <a:spcPts val="400"/>
              </a:spcAft>
            </a:pPr>
            <a:r>
              <a:rPr sz="1800" b="1">
                <a:solidFill>
                  <a:srgbClr val="2D3A45"/>
                </a:solidFill>
                <a:latin typeface="Yu Gothic"/>
              </a:rPr>
              <a:t>ご検討いただき、ありがとうございます。</a:t>
            </a:r>
          </a:p>
        </p:txBody>
      </p:sp>
      <p:sp>
        <p:nvSpPr>
          <p:cNvPr id="10" name="TextBox 9"/>
          <p:cNvSpPr txBox="1"/>
          <p:nvPr/>
        </p:nvSpPr>
        <p:spPr>
          <a:xfrm>
            <a:off x="10744200" y="6419088"/>
            <a:ext cx="822960" cy="228600"/>
          </a:xfrm>
          <a:prstGeom prst="rect">
            <a:avLst/>
          </a:prstGeom>
          <a:noFill/>
        </p:spPr>
        <p:txBody>
          <a:bodyPr wrap="square" lIns="54864" rIns="54864" tIns="54864" bIns="54864" anchor="t">
            <a:spAutoFit/>
          </a:bodyPr>
          <a:lstStyle/>
          <a:p>
            <a:pPr algn="r">
              <a:spcAft>
                <a:spcPts val="400"/>
              </a:spcAft>
            </a:pPr>
            <a:r>
              <a:rPr sz="1000" b="0">
                <a:solidFill>
                  <a:srgbClr val="647480"/>
                </a:solidFill>
                <a:latin typeface="Yu Gothic"/>
              </a:rPr>
              <a:t>08  /  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